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1cf3728c924f99" /><Relationship Type="http://schemas.openxmlformats.org/officeDocument/2006/relationships/extended-properties" Target="/docProps/app.xml" Id="R634db8eb02f644c9" /><Relationship Type="http://schemas.openxmlformats.org/officeDocument/2006/relationships/officeDocument" Target="/ppt/presentation.xml" Id="R07403f797f3544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b2cfa9a83f4ebe"/>
  </p:sldMasterIdLst>
  <p:notesMasterIdLst>
    <p:notesMasterId xmlns:r="http://schemas.openxmlformats.org/officeDocument/2006/relationships" r:id="Rb45c414d45e84e50"/>
  </p:notesMasterIdLst>
  <p:sldIdLst>
    <p:sldId xmlns:r="http://schemas.openxmlformats.org/officeDocument/2006/relationships" id="256" r:id="R5d5120b7c24b48fc"/>
    <p:sldId xmlns:r="http://schemas.openxmlformats.org/officeDocument/2006/relationships" id="257" r:id="Rf3ed44816c1f41a8"/>
    <p:sldId xmlns:r="http://schemas.openxmlformats.org/officeDocument/2006/relationships" id="258" r:id="R7c1a089a67a04522"/>
    <p:sldId xmlns:r="http://schemas.openxmlformats.org/officeDocument/2006/relationships" id="259" r:id="R90799d6ea7414845"/>
    <p:sldId xmlns:r="http://schemas.openxmlformats.org/officeDocument/2006/relationships" id="260" r:id="Rcd00b32259524c70"/>
    <p:sldId xmlns:r="http://schemas.openxmlformats.org/officeDocument/2006/relationships" id="261" r:id="Redb149e3fdfc4f37"/>
    <p:sldId xmlns:r="http://schemas.openxmlformats.org/officeDocument/2006/relationships" id="262" r:id="R0fff3c49ef7442ae"/>
    <p:sldId xmlns:r="http://schemas.openxmlformats.org/officeDocument/2006/relationships" id="263" r:id="Rb5f394f1c0a844fe"/>
    <p:sldId xmlns:r="http://schemas.openxmlformats.org/officeDocument/2006/relationships" id="264" r:id="R5a39ab29905e4a6d"/>
    <p:sldId xmlns:r="http://schemas.openxmlformats.org/officeDocument/2006/relationships" id="265" r:id="Rcb028e5415894ee8"/>
    <p:sldId xmlns:r="http://schemas.openxmlformats.org/officeDocument/2006/relationships" id="266" r:id="R0d9c6f8e743c427e"/>
    <p:sldId xmlns:r="http://schemas.openxmlformats.org/officeDocument/2006/relationships" id="267" r:id="R55b440caf2c1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c6454869314f7b" /><Relationship Type="http://schemas.openxmlformats.org/officeDocument/2006/relationships/slideMaster" Target="/ppt/slideMasters/slideMaster1.xml" Id="R28b2cfa9a83f4ebe" /><Relationship Type="http://schemas.openxmlformats.org/officeDocument/2006/relationships/notesMaster" Target="/ppt/notesMasters/notesMaster1.xml" Id="Rb45c414d45e84e50" /><Relationship Type="http://schemas.openxmlformats.org/officeDocument/2006/relationships/presProps" Target="/ppt/presProps.xml" Id="Raa46ab05d66c4861" /><Relationship Type="http://schemas.openxmlformats.org/officeDocument/2006/relationships/viewProps" Target="/ppt/viewProps.xml" Id="Re2162ece7c784bfe" /><Relationship Type="http://schemas.openxmlformats.org/officeDocument/2006/relationships/tableStyles" Target="/ppt/tableStyles.xml" Id="R1fc363f77b37400b" /><Relationship Type="http://schemas.openxmlformats.org/officeDocument/2006/relationships/slide" Target="/ppt/slides/slide1.xml" Id="R5d5120b7c24b48fc" /><Relationship Type="http://schemas.openxmlformats.org/officeDocument/2006/relationships/slide" Target="/ppt/slides/slide2.xml" Id="Rf3ed44816c1f41a8" /><Relationship Type="http://schemas.openxmlformats.org/officeDocument/2006/relationships/slide" Target="/ppt/slides/slide3.xml" Id="R7c1a089a67a04522" /><Relationship Type="http://schemas.openxmlformats.org/officeDocument/2006/relationships/slide" Target="/ppt/slides/slide4.xml" Id="R90799d6ea7414845" /><Relationship Type="http://schemas.openxmlformats.org/officeDocument/2006/relationships/slide" Target="/ppt/slides/slide5.xml" Id="Rcd00b32259524c70" /><Relationship Type="http://schemas.openxmlformats.org/officeDocument/2006/relationships/slide" Target="/ppt/slides/slide6.xml" Id="Redb149e3fdfc4f37" /><Relationship Type="http://schemas.openxmlformats.org/officeDocument/2006/relationships/slide" Target="/ppt/slides/slide7.xml" Id="R0fff3c49ef7442ae" /><Relationship Type="http://schemas.openxmlformats.org/officeDocument/2006/relationships/slide" Target="/ppt/slides/slide8.xml" Id="Rb5f394f1c0a844fe" /><Relationship Type="http://schemas.openxmlformats.org/officeDocument/2006/relationships/slide" Target="/ppt/slides/slide9.xml" Id="R5a39ab29905e4a6d" /><Relationship Type="http://schemas.openxmlformats.org/officeDocument/2006/relationships/slide" Target="/ppt/slides/slide10.xml" Id="Rcb028e5415894ee8" /><Relationship Type="http://schemas.openxmlformats.org/officeDocument/2006/relationships/slide" Target="/ppt/slides/slide11.xml" Id="R0d9c6f8e743c427e" /><Relationship Type="http://schemas.openxmlformats.org/officeDocument/2006/relationships/slide" Target="/ppt/slides/slide12.xml" Id="R55b440caf2c1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185ea2fcc0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f525d3233f4757" /><Relationship Type="http://schemas.openxmlformats.org/officeDocument/2006/relationships/notesMaster" Target="/ppt/notesMasters/notesMaster1.xml" Id="Rffeefaa9e82446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bf6b48d7374798" /><Relationship Type="http://schemas.openxmlformats.org/officeDocument/2006/relationships/notesMaster" Target="/ppt/notesMasters/notesMaster1.xml" Id="R66d9822804c943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2938f0b3424492" /><Relationship Type="http://schemas.openxmlformats.org/officeDocument/2006/relationships/notesMaster" Target="/ppt/notesMasters/notesMaster1.xml" Id="R4a75cf6a721a42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ec903c2ec44e68" /><Relationship Type="http://schemas.openxmlformats.org/officeDocument/2006/relationships/notesMaster" Target="/ppt/notesMasters/notesMaster1.xml" Id="R00ff3e5c359947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d61f3190804374" /><Relationship Type="http://schemas.openxmlformats.org/officeDocument/2006/relationships/notesMaster" Target="/ppt/notesMasters/notesMaster1.xml" Id="Rf8fb29187aa04c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e210e6ad8f42b6" /><Relationship Type="http://schemas.openxmlformats.org/officeDocument/2006/relationships/notesMaster" Target="/ppt/notesMasters/notesMaster1.xml" Id="R4739b6b6efb84e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228e73767d4576" /><Relationship Type="http://schemas.openxmlformats.org/officeDocument/2006/relationships/notesMaster" Target="/ppt/notesMasters/notesMaster1.xml" Id="Rb9f784259a4f4b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173b9d571d4161" /><Relationship Type="http://schemas.openxmlformats.org/officeDocument/2006/relationships/notesMaster" Target="/ppt/notesMasters/notesMaster1.xml" Id="Re6bf86b5e7bb4d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f0127bfd6f4f3c" /><Relationship Type="http://schemas.openxmlformats.org/officeDocument/2006/relationships/notesMaster" Target="/ppt/notesMasters/notesMaster1.xml" Id="R32be3f2abeea4e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57f2167f11404a" /><Relationship Type="http://schemas.openxmlformats.org/officeDocument/2006/relationships/notesMaster" Target="/ppt/notesMasters/notesMaster1.xml" Id="R19632ed113bf44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38f26d08bc476e" /><Relationship Type="http://schemas.openxmlformats.org/officeDocument/2006/relationships/notesMaster" Target="/ppt/notesMasters/notesMaster1.xml" Id="Rf822bc7080f940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c44092580d40ac" /><Relationship Type="http://schemas.openxmlformats.org/officeDocument/2006/relationships/notesMaster" Target="/ppt/notesMasters/notesMaster1.xml" Id="R8d70b34cd91e4c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goal was not a development board demo, but a complete custom PCB that combines environmental sensing, a local GUI, alarms, Wi-Fi and service interfaces.
[Sources]
- Project PCB Gerber render: user-authored production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challenge was the combination of interfaces, not any one sensor. The central engineering problem was maintaining power integrity and return paths while routing LTDC/FMC-density signals.
[Sources]
- Project requirements and measurements: user-authored technical report.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clockwise through the architecture. Emphasize separate I²C buses and the decision to keep the working GUI independent of SDRAM.
[Sources]
- Project architecture graphic: user-authored report asset.
- STMicroelectronics STM32F746BG: https://www.st.com/en/microcontrollers-microprocessors/stm32f746bg.html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 power domains and the VDDA filter. For the backlight, the first failure was not the capacitor or inductor: the external Schottky diode was reversed. Measurements at VIN, CTRL, FB and VLED led to the correction.
[Sources]
- User-authored schematic captures.
- Texas Instruments TPS61165: https://www.ti.com/product/TPS61165
- Diodes AP63203: https://www.diodes.com/part/view/AP63203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normal dashboard intentionally does not show flame or gas values. They remain active in the background and take over the screen only during a fault. Gas resistance is a relative air-change indicator—not gas identification.
[Sources]
- User-authored schematic captures and firmware tests.
- Sensirion SCD41: https://sensirion.com/products/catalog/SCD41
- Bosch BME688: https://www.bosch-sensortec.com/products/environmental-sensors/gas-sensors/bme688/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L1 GND and L2 3V3 plane assignment. The PCB view is derived from the production Gerbers; final constrained and power routes were manually reviewed after autorouting.
[Sources]
- PCB Gerber render: user-authored production data.
- Altium Designer documentation: https://www.altium.com/documentation/altium-designer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integrated loop is time-based rather than built around long delays. The final GUI fixes visible flashing by keeping static assets in QSPI and redrawing only dynamic fields.
[Sources]
- Firmware flow and GUI image: user-authored project assets.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QSPI is used for the background image and font/icon assets, so internal flash is not consumed by all GUI resources. The installed ESP-01 firmware could not establish a usable SSL path; HTTP was kept only for lab proof.
[Sources]
- User-authored QSPI GUI assets and Blynk screenshot.
- Winbond W25Q128JV family: https://www.winbond.com/hq/product/code-storage-flash/qspi-nor/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readings exactly as observed. Differences between the SCD41 and BME688 temperature/humidity channels are expected from timestamps, thermal coupling, airflow and self-heating; no calibrated accuracy claim is made.
[Sources]
- Bench observations recorded by the user in the project report.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honesty slide. Do not imply that every fitted feature works. Separate the working core from SDRAM FAIL, touch NOT TESTABLE and MCP2221A PARTIAL.
[Sources]
- User-authored bench test results and technical report.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each failure as evidence of diagnostic method: measure first, isolate the subsystem, and prevent the same failure in the next revision. The touch flex is physically severed; it cannot be fixed in software.
[Sources]
- User-authored bring-up record and touch-flex photograph.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challenge. The board senses, explains, warns and communicates. Then run the live demonstration in the footer order.
[Sources]
- Synthesis of user-authored project evidence and technical report.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4d88f838d43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2c17bd02f4c4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E315B5F-0552-4B20-884A-2D284E3A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4DCE4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BB0258-B370-4617-8CF6-84B349AD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3749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SMART HOME HUB  |  ADVANCED PCB</a:t>
            </a:r>
            <a:endParaRPr sz="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1347568-14B1-4DC3-8CF0-D57A6E1F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56248"/>
            <a:ext cx="36576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7C8793"/>
                </a:solidFill>
                <a:latin typeface="Aptos"/>
                <a:ea typeface="Aptos"/>
                <a:cs typeface="Aptos"/>
              </a:rPr>
              <a:t>Mahmoud Mostafa  ·  Advanced PCB Lab</a:t>
            </a:r>
            <a:endParaRPr sz="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AF0BE24-1624-4DB7-929D-987BBE0C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6556248"/>
            <a:ext cx="285292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7C8793"/>
                </a:solidFill>
                <a:latin typeface="Aptos"/>
                <a:ea typeface="Aptos"/>
                <a:cs typeface="Aptos"/>
              </a:rPr>
              <a:t>Thomas More · Campus De Nayer</a:t>
            </a:r>
            <a:endParaRPr sz="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C49C207-5A90-4071-87CD-2068961ED40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1c83708b724e6c" /><Relationship Type="http://schemas.openxmlformats.org/officeDocument/2006/relationships/slideLayout" Target="/ppt/slideLayouts/slideLayout1.xml" Id="R66c65b6383a1487d" /><Relationship Type="http://schemas.openxmlformats.org/officeDocument/2006/relationships/slideLayout" Target="/ppt/slideLayouts/slideLayout2.xml" Id="Rab144000e1b74f2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A378723-674B-43AD-9745-013E0EEF4BE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c65b6383a1487d"/>
    <p:sldLayoutId xmlns:r="http://schemas.openxmlformats.org/officeDocument/2006/relationships" id="2147483650" r:id="Rab144000e1b74f2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08de6827248aa" /><Relationship Type="http://schemas.openxmlformats.org/officeDocument/2006/relationships/image" Target="/ppt/media/image.png" Id="R27337f3441e04250" /><Relationship Type="http://schemas.openxmlformats.org/officeDocument/2006/relationships/notesSlide" Target="/ppt/notesSlides/notesSlide1.xml" Id="R9e40e4e8fd064d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a5d85d4b5472d" /><Relationship Type="http://schemas.openxmlformats.org/officeDocument/2006/relationships/notesSlide" Target="/ppt/notesSlides/notesSlide2.xml" Id="R88ee098e5d1645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1ddf893e2045c4" /><Relationship Type="http://schemas.openxmlformats.org/officeDocument/2006/relationships/image" Target="/ppt/media/image2.png" Id="R129cc12f972f4120" /><Relationship Type="http://schemas.openxmlformats.org/officeDocument/2006/relationships/notesSlide" Target="/ppt/notesSlides/notesSlide3.xml" Id="R17d941c53e504a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7a748b9f84cf7" /><Relationship Type="http://schemas.openxmlformats.org/officeDocument/2006/relationships/image" Target="/ppt/media/image3.png" Id="R327d1e34f2bf4918" /><Relationship Type="http://schemas.openxmlformats.org/officeDocument/2006/relationships/image" Target="/ppt/media/image4.png" Id="R9c9b703de66643ac" /><Relationship Type="http://schemas.openxmlformats.org/officeDocument/2006/relationships/notesSlide" Target="/ppt/notesSlides/notesSlide4.xml" Id="Rd7abac0bba4a4e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429dcdf7444692" /><Relationship Type="http://schemas.openxmlformats.org/officeDocument/2006/relationships/image" Target="/ppt/media/image5.png" Id="Rc1111e30c4b04a2e" /><Relationship Type="http://schemas.openxmlformats.org/officeDocument/2006/relationships/image" Target="/ppt/media/image6.png" Id="Rc4e99e016f004e30" /><Relationship Type="http://schemas.openxmlformats.org/officeDocument/2006/relationships/notesSlide" Target="/ppt/notesSlides/notesSlide5.xml" Id="Ra0cface1d40648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c89a4f0da14134" /><Relationship Type="http://schemas.openxmlformats.org/officeDocument/2006/relationships/image" Target="/ppt/media/image7.png" Id="R646b9741927b4b63" /><Relationship Type="http://schemas.openxmlformats.org/officeDocument/2006/relationships/notesSlide" Target="/ppt/notesSlides/notesSlide6.xml" Id="R61030a77c51642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4374b2db224b1a" /><Relationship Type="http://schemas.openxmlformats.org/officeDocument/2006/relationships/image" Target="/ppt/media/image8.png" Id="R6c1f9454ae53492a" /><Relationship Type="http://schemas.openxmlformats.org/officeDocument/2006/relationships/image" Target="/ppt/media/image9.png" Id="Rb28c252e17184c85" /><Relationship Type="http://schemas.openxmlformats.org/officeDocument/2006/relationships/notesSlide" Target="/ppt/notesSlides/notesSlide7.xml" Id="R3fbd647b299148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616a78383f42c8" /><Relationship Type="http://schemas.openxmlformats.org/officeDocument/2006/relationships/image" Target="/ppt/media/image10.png" Id="R7bf1ac1e5a124af5" /><Relationship Type="http://schemas.openxmlformats.org/officeDocument/2006/relationships/image" Target="/ppt/media/image11.png" Id="Re82d52e38a5d4fa6" /><Relationship Type="http://schemas.openxmlformats.org/officeDocument/2006/relationships/notesSlide" Target="/ppt/notesSlides/notesSlide8.xml" Id="Rbae7bb76db564d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930311a6945a3" /><Relationship Type="http://schemas.openxmlformats.org/officeDocument/2006/relationships/notesSlide" Target="/ppt/notesSlides/notesSlide9.xml" Id="Ra1b8283618a344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ba24608c9c4a9f" /><Relationship Type="http://schemas.openxmlformats.org/officeDocument/2006/relationships/notesSlide" Target="/ppt/notesSlides/notesSlide10.xml" Id="R779cd874a25343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c8fb5ac8a54220" /><Relationship Type="http://schemas.openxmlformats.org/officeDocument/2006/relationships/image" Target="/ppt/media/image.jpeg" Id="R02dd3b8989304abf" /><Relationship Type="http://schemas.openxmlformats.org/officeDocument/2006/relationships/notesSlide" Target="/ppt/notesSlides/notesSlide11.xml" Id="R0ced62cd0a5b42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d35ac5d8c34b95" /><Relationship Type="http://schemas.openxmlformats.org/officeDocument/2006/relationships/notesSlide" Target="/ppt/notesSlides/notesSlide12.xml" Id="Re24b85fd25d44c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0378A29-0D42-40C7-AF84-CA0B0B93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65760"/>
            <a:ext cx="4114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THOMAS MORE  ·  ELECTRONICS-ICT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090EA0-C7FC-4271-BC29-4CA38533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88720"/>
            <a:ext cx="5074920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0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SMART HOME</a:t>
            </a:r>
            <a:endParaRPr sz="5000"/>
          </a:p>
          <a:p xmlns:a="http://schemas.openxmlformats.org/drawingml/2006/main">
            <a:pPr marL="0" indent="0">
              <a:buNone/>
            </a:pPr>
            <a:r>
              <a:rPr sz="50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HUB</a:t>
            </a:r>
            <a:endParaRPr sz="5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5A9ADC-B7DC-4566-91F6-71D06053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182112"/>
            <a:ext cx="4480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1707E"/>
                </a:solidFill>
                <a:latin typeface="Aptos"/>
                <a:ea typeface="Aptos"/>
                <a:cs typeface="Aptos"/>
              </a:rPr>
              <a:t>A manufactured four-layer STM32 platform that senses the room, communicates and alarms locally.</a:t>
            </a:r>
            <a:endParaRPr sz="20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DCA7E56-21E8-4F46-BCE8-D55F400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379976"/>
            <a:ext cx="1234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C2CF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BDF4F0-73D0-4624-8D2B-13EF7C78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718304"/>
            <a:ext cx="3840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720"/>
                </a:solidFill>
                <a:latin typeface="Aptos"/>
                <a:ea typeface="Aptos"/>
                <a:cs typeface="Aptos"/>
              </a:rPr>
              <a:t>Mahmoud Mostafa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720"/>
                </a:solidFill>
                <a:latin typeface="Aptos"/>
                <a:ea typeface="Aptos"/>
                <a:cs typeface="Aptos"/>
              </a:rPr>
              <a:t>Advanced PCB: Lab · 2025–2026</a:t>
            </a:r>
            <a:endParaRPr sz="1300"/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37f3441e0425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0" y="566928"/>
            <a:ext cx="5961888" cy="5321808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EB59303-D6E2-4398-86FA-45ED766F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53328"/>
            <a:ext cx="5961888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F9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4702240-9D07-433E-B5B4-AC8E8D5A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54496"/>
            <a:ext cx="59618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1707E"/>
                </a:solidFill>
                <a:latin typeface="Aptos"/>
                <a:ea typeface="Aptos"/>
                <a:cs typeface="Aptos"/>
              </a:rPr>
              <a:t>STM32F746 · RGB TFT · SCD41 · BME688 · ESP-01 · QSPI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7754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6E9D01-5332-41E6-B8D6-D58EB520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DESIGN CHALLENGE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9C5123-C945-4A2D-87A5-A6C603F0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One board had to sense, warn and communicate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2B6D00-E996-4FD2-8E9D-7F453A8C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61899B-400E-4533-BB26-14F8EE73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0472"/>
            <a:ext cx="4800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9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High-speed video and memory share the board with quiet analog sensing and two power rails.</a:t>
            </a:r>
            <a:endParaRPr sz="1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6AB4C5E-FDB5-43A1-84D4-8C8D5BEC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42032"/>
            <a:ext cx="4800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50">
                <a:solidFill>
                  <a:srgbClr val="0F1720"/>
                </a:solidFill>
                <a:latin typeface="Aptos"/>
                <a:ea typeface="Aptos"/>
                <a:cs typeface="Aptos"/>
              </a:rPr>
              <a:t>480 × 272 RGB display driven directly by LTDC</a:t>
            </a:r>
            <a:endParaRPr sz="165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50">
                <a:solidFill>
                  <a:srgbClr val="0F1720"/>
                </a:solidFill>
                <a:latin typeface="Aptos"/>
                <a:ea typeface="Aptos"/>
                <a:cs typeface="Aptos"/>
              </a:rPr>
              <a:t>CO₂, temperature, humidity, pressure and relative gas response</a:t>
            </a:r>
            <a:endParaRPr sz="165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50">
                <a:solidFill>
                  <a:srgbClr val="0F1720"/>
                </a:solidFill>
                <a:latin typeface="Aptos"/>
                <a:ea typeface="Aptos"/>
                <a:cs typeface="Aptos"/>
              </a:rPr>
              <a:t>Independent local flame warning and default-off buzzer</a:t>
            </a:r>
            <a:endParaRPr sz="165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50">
                <a:solidFill>
                  <a:srgbClr val="0F1720"/>
                </a:solidFill>
                <a:latin typeface="Aptos"/>
                <a:ea typeface="Aptos"/>
                <a:cs typeface="Aptos"/>
              </a:rPr>
              <a:t>Wi-Fi telemetry through an ESP-01</a:t>
            </a:r>
            <a:endParaRPr sz="165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50">
                <a:solidFill>
                  <a:srgbClr val="0F1720"/>
                </a:solidFill>
                <a:latin typeface="Aptos"/>
                <a:ea typeface="Aptos"/>
                <a:cs typeface="Aptos"/>
              </a:rPr>
              <a:t>Manufacturable four-layer PCB with reproducible outputs</a:t>
            </a:r>
            <a:endParaRPr sz="16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9A70DD0-2B38-455B-AABD-373C906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554480"/>
            <a:ext cx="166420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BEF483E-989B-4965-A7D6-3E50C738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1554480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F9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FF5C32A-4512-490D-B8CE-DFCAF5AE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719072"/>
            <a:ext cx="12984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4</a:t>
            </a:r>
            <a:endParaRPr sz="2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753F032-DEAB-4860-A6D4-A439A9FE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304288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PCB layers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20D488-E5A1-4ACA-B1E9-FEC66374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554480"/>
            <a:ext cx="166420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55E0D4E-8B34-4261-95E7-861CC26B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554480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85C9293-B5D0-4349-BC72-89869F3F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1719072"/>
            <a:ext cx="12984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2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C60CA55-4B5B-47C8-9876-4E449380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2304288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I²C buses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4D5D7C6-92D5-4898-BFDD-983648CD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54480"/>
            <a:ext cx="199339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7C6651E-D4FB-45D7-B99D-1D1B7400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54480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C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2A2127A-9611-4F51-A27A-F34E1093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19072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480×272</a:t>
            </a:r>
            <a:endParaRPr sz="2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7C43CD-C294-4A3D-A539-2AF2B68D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4288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RGB pixels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5B4637B-8E52-4976-933E-FD31DBD7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3136392"/>
            <a:ext cx="166420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9FF50E4-5B0F-48D0-AA7F-532F7502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3136392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F9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863E802-C60F-4481-8E61-4F36FD6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3300984"/>
            <a:ext cx="12984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5 V</a:t>
            </a:r>
            <a:endParaRPr sz="2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9BB91D-8030-4912-BDF2-F2DEF0AE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3886200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system input</a:t>
            </a:r>
            <a:endParaRPr sz="14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CA95621-CFB1-4104-AA98-CFA75B57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136392"/>
            <a:ext cx="166420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882924C-3BFE-46C5-9FD4-BF608623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136392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3BBCD49-CCBE-467E-BB25-073B75E5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300984"/>
            <a:ext cx="12984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3.3 V</a:t>
            </a:r>
            <a:endParaRPr sz="2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FC26B6-7931-49AF-9C13-F40F1D68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886200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logic rail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6A8B99D-5FD6-4D79-A2B6-4314119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6392"/>
            <a:ext cx="199339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1A94980-AD9C-45AD-A6BA-EF1761A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6392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C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55826D6-B5C7-4B15-8708-7F303482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00984"/>
            <a:ext cx="16276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16 MB</a:t>
            </a:r>
            <a:endParaRPr sz="28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57DD632-B6BE-41FE-89ED-6C12201D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86200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QSPI flash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B05A651-07CD-4F77-A4AA-EF454B3D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489204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Success criterion</a:t>
            </a:r>
            <a:endParaRPr sz="16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C900E7E-30FE-48E1-91D2-B04C33C4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5230368"/>
            <a:ext cx="57790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>
                <a:solidFill>
                  <a:srgbClr val="0F1720"/>
                </a:solidFill>
                <a:latin typeface="Aptos"/>
                <a:ea typeface="Aptos"/>
                <a:cs typeface="Aptos"/>
              </a:rPr>
              <a:t>A demonstrable working unit with traceable production data—and limitations that are measured, contained and documented.</a:t>
            </a:r>
            <a:endParaRPr sz="180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2A31024-2B10-44C4-AB8D-DDC3E3346AF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4030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ADC576-67C2-4E8C-AE4B-7A1187D8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SYSTEM ARCHITECTURE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DA00DA-4ECE-40A0-A4B7-9C5240EE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Domain separation simplified bring-up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765ABFF-71FC-40F9-8E60-1E8B608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01B319E-49EE-4DB7-86C2-7CEFA91D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26464"/>
            <a:ext cx="7031736" cy="4306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cc12f972f412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1444752"/>
            <a:ext cx="6995160" cy="4270248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4DE2285-DE84-4447-BFC2-458799CD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481328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Interface map</a:t>
            </a:r>
            <a:endParaRPr sz="1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08E2E21-C935-4F66-A4F3-925E28BD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89280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LTDC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4B55837-F4CF-4094-B754-C6A97EB7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1892808"/>
            <a:ext cx="2176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1707E"/>
                </a:solidFill>
                <a:latin typeface="Aptos"/>
                <a:ea typeface="Aptos"/>
                <a:cs typeface="Aptos"/>
              </a:rPr>
              <a:t>RGB display</a:t>
            </a:r>
            <a:endParaRPr sz="13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3B8CC77-EC2B-4892-A74E-0967A804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203704"/>
            <a:ext cx="3529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E3E8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A7E6104-23DF-4BF3-9FC6-958BBD63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048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I²C4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F8E98C6-4C37-485E-919F-706B07EB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404872"/>
            <a:ext cx="2176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1707E"/>
                </a:solidFill>
                <a:latin typeface="Aptos"/>
                <a:ea typeface="Aptos"/>
                <a:cs typeface="Aptos"/>
              </a:rPr>
              <a:t>SCD41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B3C1F17-B3F8-4024-9A14-9E3106CA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715768"/>
            <a:ext cx="3529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E3E8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841DCBE-CE3E-4C5C-A1FF-57499C1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916936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I²C3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8E145F-885F-4895-8251-8CB0CBD7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916936"/>
            <a:ext cx="2176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1707E"/>
                </a:solidFill>
                <a:latin typeface="Aptos"/>
                <a:ea typeface="Aptos"/>
                <a:cs typeface="Aptos"/>
              </a:rPr>
              <a:t>BME688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120D749-AE90-4D03-BE8E-544ACE34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27832"/>
            <a:ext cx="3529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E3E8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74DAAC8-9ED2-45AD-A09F-5800CF2B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429000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ADC1 / PH2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5718EA9-2B82-4BDF-8323-13BF2458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429000"/>
            <a:ext cx="2176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1707E"/>
                </a:solidFill>
                <a:latin typeface="Aptos"/>
                <a:ea typeface="Aptos"/>
                <a:cs typeface="Aptos"/>
              </a:rPr>
              <a:t>Flame A0 / D0</a:t>
            </a:r>
            <a:endParaRPr sz="13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A2D40F1-35D5-4120-9D4F-12DDFE62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739896"/>
            <a:ext cx="3529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E3E8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4F01D38-FD42-45D8-93F6-D43FED86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94106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USART1</a:t>
            </a:r>
            <a:endParaRPr sz="13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23A5C76-72C8-49C2-BC37-A88E2A22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3941064"/>
            <a:ext cx="2176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1707E"/>
                </a:solidFill>
                <a:latin typeface="Aptos"/>
                <a:ea typeface="Aptos"/>
                <a:cs typeface="Aptos"/>
              </a:rPr>
              <a:t>ESP-01</a:t>
            </a:r>
            <a:endParaRPr sz="13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A46CFFB-007F-4CE7-B9C5-CD0C6431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251960"/>
            <a:ext cx="3529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E3E8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F733666-24D1-4D20-9FCC-865049B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45312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QUADSPI</a:t>
            </a:r>
            <a:endParaRPr sz="13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0AB2864-E8FD-4DA6-9139-D63C15F6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4453128"/>
            <a:ext cx="2176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1707E"/>
                </a:solidFill>
                <a:latin typeface="Aptos"/>
                <a:ea typeface="Aptos"/>
                <a:cs typeface="Aptos"/>
              </a:rPr>
              <a:t>W25Q128</a:t>
            </a:r>
            <a:endParaRPr sz="13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260257F-3E4F-4176-B30F-97E1068A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764024"/>
            <a:ext cx="3529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E3E8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8FBDAE6-01F5-4001-AF4C-B88FC950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96519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FMC</a:t>
            </a:r>
            <a:endParaRPr sz="13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62953BF-796C-41CE-9D6A-43CF43B2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4965192"/>
            <a:ext cx="2176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300">
                <a:solidFill>
                  <a:srgbClr val="61707E"/>
                </a:solidFill>
                <a:latin typeface="Aptos"/>
                <a:ea typeface="Aptos"/>
                <a:cs typeface="Aptos"/>
              </a:rPr>
              <a:t>SDRAM</a:t>
            </a:r>
            <a:endParaRPr sz="13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86E1807-F361-4D94-A027-7B195709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276088"/>
            <a:ext cx="3529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DE3E8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EA4294D-D59C-43A5-A24B-AD69BAE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62356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Why it matters</a:t>
            </a:r>
            <a:endParaRPr sz="16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014FF2D-DE45-46D6-AE61-8E0C90CC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943600"/>
            <a:ext cx="354787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00">
                <a:solidFill>
                  <a:srgbClr val="0F1720"/>
                </a:solidFill>
                <a:latin typeface="Aptos"/>
                <a:ea typeface="Aptos"/>
                <a:cs typeface="Aptos"/>
              </a:rPr>
              <a:t>A failed bus or memory device does not prevent the rest of the dashboard and alarms from operating.</a:t>
            </a:r>
            <a:endParaRPr sz="150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7D83268-1F61-42A3-98E7-8BE8ACAF79C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1415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357EB4-2DAA-4915-8E9D-C86EC04B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POWER AND DISPLAY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6433F6-019B-45B1-B1B3-D394FFDD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Power integrity anchors the HMI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5DE073-86D9-406B-92C9-CEE70CEB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DA440ED-53D9-41D2-8650-BC1CBD0B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303520" cy="2944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d1e34f2bf491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1435608"/>
            <a:ext cx="5266944" cy="2907792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2402954-F182-474F-B5EC-3DCF6BD1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17320"/>
            <a:ext cx="5486400" cy="2944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b703de66643a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44768" y="1435608"/>
            <a:ext cx="5449824" cy="2907792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C7A08B6-0E87-4ECE-AAA9-144BAED1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17136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5 V → 3.3 V power tree</a:t>
            </a:r>
            <a:endParaRPr sz="17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D2D0CC1-C582-43CF-B373-6B7149A0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47548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USB-C sink: 5.1 kΩ on CC1/CC2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Fuse + TVS protection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AP63203 synchronous buck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Ferrite-isolated VDDA/VREF+</a:t>
            </a:r>
            <a:endParaRPr sz="16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2F55069-067B-4B29-9E8C-D525D16B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517136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TPS61165 backlight</a:t>
            </a:r>
            <a:endParaRPr sz="17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8474FAA-5ACD-41B5-9412-B9B8093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892040"/>
            <a:ext cx="52578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Constant-current LED-string drive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CTRL held low until MCU control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High-voltage output capacitor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Schottky polarity corrected during bring-up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A9D55F0-E86C-45FA-87DC-6B9BB16C5DC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93692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212113-F667-4E3F-87D2-C9E2BF5D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SENSING AND ALARMS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60AC4A-2997-495B-9FFD-CF33B93C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Visible comfort data, hidden safety channels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3CE6B7-3D04-43A9-9B39-D4DED306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F9133BC-A915-435F-B992-B3BF49C7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5751576" cy="2368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11e30c4b04a2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1408176"/>
            <a:ext cx="5715000" cy="233172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72C72B4-7080-4DAD-BDF5-509767E2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751576" cy="2020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99e016f004e3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3950208"/>
            <a:ext cx="5715000" cy="1984248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B33F7F5-DAA9-4A54-B407-D9FE8F6B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4173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Visible environmental data</a:t>
            </a:r>
            <a:endParaRPr sz="18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3F6A6B9-C806-48CE-8526-2233023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28800"/>
            <a:ext cx="4663440" cy="1499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SCD41: CO₂ + T/RH on I²C4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BME688: T/RH + pressure + gas resistance on I²C3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Local pull-ups and decoupling on both buses</a:t>
            </a:r>
            <a:endParaRPr sz="16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E33366A-438A-448F-8B95-BF531D1E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70332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A62B2B"/>
                </a:solidFill>
                <a:latin typeface="Aptos"/>
                <a:ea typeface="Aptos"/>
                <a:cs typeface="Aptos"/>
              </a:rPr>
              <a:t>Background safety logic</a:t>
            </a:r>
            <a:endParaRPr sz="18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269E9E2-3A5B-4F96-82EE-71CFECD7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114800"/>
            <a:ext cx="4663440" cy="1673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550">
                <a:solidFill>
                  <a:srgbClr val="0F1720"/>
                </a:solidFill>
                <a:latin typeface="Aptos"/>
                <a:ea typeface="Aptos"/>
                <a:cs typeface="Aptos"/>
              </a:rPr>
              <a:t>PA1 continuously samples flame A0</a:t>
            </a:r>
            <a:endParaRPr sz="155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550">
                <a:solidFill>
                  <a:srgbClr val="0F1720"/>
                </a:solidFill>
                <a:latin typeface="Aptos"/>
                <a:ea typeface="Aptos"/>
                <a:cs typeface="Aptos"/>
              </a:rPr>
              <a:t>PH2 reads active-low comparator D0</a:t>
            </a:r>
            <a:endParaRPr sz="155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550">
                <a:solidFill>
                  <a:srgbClr val="0F1720"/>
                </a:solidFill>
                <a:latin typeface="Aptos"/>
                <a:ea typeface="Aptos"/>
                <a:cs typeface="Aptos"/>
              </a:rPr>
              <a:t>Gas change is judged against a learned clean-air baseline</a:t>
            </a:r>
            <a:endParaRPr sz="155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550">
                <a:solidFill>
                  <a:srgbClr val="0F1720"/>
                </a:solidFill>
                <a:latin typeface="Aptos"/>
                <a:ea typeface="Aptos"/>
                <a:cs typeface="Aptos"/>
              </a:rPr>
              <a:t>100 kΩ gate pull-down keeps buzzer silent at reset</a:t>
            </a:r>
            <a:endParaRPr sz="15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2E39D1A-C543-4F98-B244-8F577AD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989320"/>
            <a:ext cx="374904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6350">
            <a:solidFill>
              <a:srgbClr val="167C4B">
                <a:alpha val="35000"/>
              </a:srgbClr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AFDDD18-F480-4127-933E-6E559D53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6039612"/>
            <a:ext cx="3749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00" b="1">
                <a:solidFill>
                  <a:srgbClr val="167C4B"/>
                </a:solidFill>
                <a:latin typeface="Aptos"/>
                <a:ea typeface="Aptos"/>
                <a:cs typeface="Aptos"/>
              </a:rPr>
              <a:t>LOCAL ALARM DOES NOT REQUIRE WI-FI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108784C-7D3C-4728-8C69-5C64EDAD572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1544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298D45-1843-43B8-9E55-53404DB6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PCB IMPLEMENTATION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D052EB-ACF9-4CA6-97B2-4A5454BC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A four-layer stack protects return paths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C784FDE-635B-4DC6-A9C2-213204FD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866EC3-FFFB-47CD-8DAE-2DB5FC9F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784848" cy="3739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b9741927b4b6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1389888"/>
            <a:ext cx="6748272" cy="370332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A5F58F2-A005-41F3-8945-42ED3358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72184"/>
            <a:ext cx="768096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2B2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67599B0-7306-44E1-ABC9-9E00E1B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645920"/>
            <a:ext cx="768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TOP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3EA27D3-D659-476E-85CA-F37C851E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645920"/>
            <a:ext cx="25328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signals + components</a:t>
            </a:r>
            <a:endParaRPr sz="16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DDA27C2-C22A-4FC2-ACED-9700C042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313432"/>
            <a:ext cx="768096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F9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4A25021-DBA0-4C96-B35D-7C52834A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487168"/>
            <a:ext cx="768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L1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2D65FEC-5E72-49FB-B30B-63D451BC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487168"/>
            <a:ext cx="25328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solid GND plane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94E8923-9EEA-4054-B6D1-6CFBB873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54680"/>
            <a:ext cx="768096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CF4A60A-9BBE-4B12-85E0-CCD52F78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328416"/>
            <a:ext cx="768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L2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0BFFF34-5077-41E8-AA19-BE29304F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28416"/>
            <a:ext cx="25328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3.3 V plane</a:t>
            </a:r>
            <a:endParaRPr sz="16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6F72FBD-F898-4A42-9CE0-741C56B5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995928"/>
            <a:ext cx="768096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6D7D043-2A1D-4582-BB95-E36FC24C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169664"/>
            <a:ext cx="768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BOTTOM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67C2506-79F5-4491-B925-E3ABC78D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169664"/>
            <a:ext cx="25328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signals + components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F4D4F4B-466A-4281-A436-9C322EC2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956048"/>
            <a:ext cx="1874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Routing priorities</a:t>
            </a:r>
            <a:endParaRPr sz="17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3746BE3-2322-48B0-8CFF-4143BA8A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303520"/>
            <a:ext cx="35204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Dense MCU–memory escape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Compact boost SW loop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Wide 5 V / 3.3 V paths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Manufacturer-aligned DRC</a:t>
            </a:r>
            <a:endParaRPr sz="16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515DC3A-12D2-41A2-B7C5-1A0F5BBB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85816"/>
            <a:ext cx="674827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autorouter established a baseline; power, constrained regions and return paths were reviewed manually.</a:t>
            </a:r>
            <a:endParaRPr sz="1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A54412D-9F4C-4E0A-B6A9-6711287638F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83197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34EB89-3677-48B0-9076-3D4A5495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FIRMWARE AND GUI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4A3158-643F-4D25-A04F-30FEFF72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Partial updates eliminate screen flashing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790FF1-6B9D-49C6-BDCA-5D8CA93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C075905-2953-492C-8968-18230F90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7013448" cy="2532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f9454ae5349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1389888"/>
            <a:ext cx="6976872" cy="2496312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3691D5B-0815-40CD-B038-AFDDFE65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371600"/>
            <a:ext cx="3739896" cy="2121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c252e17184c8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82128" y="1389888"/>
            <a:ext cx="3703320" cy="2084832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770BD94-CB0E-4CF0-B274-BA5FAC7D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730752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Smooth rendering</a:t>
            </a:r>
            <a:endParaRPr sz="17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BBA9BCB-120D-4CA6-A820-96D1B4FB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096512"/>
            <a:ext cx="37033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500">
                <a:solidFill>
                  <a:srgbClr val="0F1720"/>
                </a:solidFill>
                <a:latin typeface="Aptos"/>
                <a:ea typeface="Aptos"/>
                <a:cs typeface="Aptos"/>
              </a:rPr>
              <a:t>Static QSPI background remains in place</a:t>
            </a:r>
            <a:endParaRPr sz="15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500">
                <a:solidFill>
                  <a:srgbClr val="0F1720"/>
                </a:solidFill>
                <a:latin typeface="Aptos"/>
                <a:ea typeface="Aptos"/>
                <a:cs typeface="Aptos"/>
              </a:rPr>
              <a:t>Only changed value rectangles are redrawn</a:t>
            </a:r>
            <a:endParaRPr sz="15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500">
                <a:solidFill>
                  <a:srgbClr val="0F1720"/>
                </a:solidFill>
                <a:latin typeface="Aptos"/>
                <a:ea typeface="Aptos"/>
                <a:cs typeface="Aptos"/>
              </a:rPr>
              <a:t>D-cache cleaned before LTDC presentation when required</a:t>
            </a:r>
            <a:endParaRPr sz="15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0750266-BFC3-4AC9-97C4-A8BBE540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79392"/>
            <a:ext cx="1325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4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200 ms</a:t>
            </a:r>
            <a:endParaRPr sz="2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F7C24A7-D1A4-4F45-9198-461E38A1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00016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00">
                <a:solidFill>
                  <a:srgbClr val="61707E"/>
                </a:solidFill>
                <a:latin typeface="Aptos"/>
                <a:ea typeface="Aptos"/>
                <a:cs typeface="Aptos"/>
              </a:rPr>
              <a:t>flame sample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B3D5096-77E9-4678-A98F-5B735B3C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4279392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4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5 s</a:t>
            </a:r>
            <a:endParaRPr sz="2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2DC58BE-126A-4DCB-9C6A-B25F1A08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4700016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00">
                <a:solidFill>
                  <a:srgbClr val="61707E"/>
                </a:solidFill>
                <a:latin typeface="Aptos"/>
                <a:ea typeface="Aptos"/>
                <a:cs typeface="Aptos"/>
              </a:rPr>
              <a:t>environment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13FB67C-4570-4431-819A-34A5FD92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279392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400" b="1">
                <a:solidFill>
                  <a:srgbClr val="55C2CF"/>
                </a:solidFill>
                <a:latin typeface="Aptos"/>
                <a:ea typeface="Aptos"/>
                <a:cs typeface="Aptos"/>
              </a:rPr>
              <a:t>500 ms</a:t>
            </a:r>
            <a:endParaRPr sz="24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371DBE2-1815-40A8-A271-66195A30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700016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00">
                <a:solidFill>
                  <a:srgbClr val="61707E"/>
                </a:solidFill>
                <a:latin typeface="Aptos"/>
                <a:ea typeface="Aptos"/>
                <a:cs typeface="Aptos"/>
              </a:rPr>
              <a:t>display</a:t>
            </a:r>
            <a:endParaRPr sz="12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E6C5A243-1536-44A3-BFFE-70FD9DF0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4279392"/>
            <a:ext cx="1051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10 s</a:t>
            </a:r>
            <a:endParaRPr sz="24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CFAD7F5-C85C-44CC-A1A9-2B0EF3D2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4700016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200">
                <a:solidFill>
                  <a:srgbClr val="61707E"/>
                </a:solidFill>
                <a:latin typeface="Aptos"/>
                <a:ea typeface="Aptos"/>
                <a:cs typeface="Aptos"/>
              </a:rPr>
              <a:t>Blynk batch</a:t>
            </a:r>
            <a:endParaRPr sz="12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6911D6F-BF35-4065-BD4C-6B1F6A05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669280"/>
            <a:ext cx="251460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6350">
            <a:solidFill>
              <a:srgbClr val="167C4B">
                <a:alpha val="35000"/>
              </a:srgbClr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F3A99BF-4E95-4DB3-910A-8B153A7F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719572"/>
            <a:ext cx="25146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00" b="1">
                <a:solidFill>
                  <a:srgbClr val="167C4B"/>
                </a:solidFill>
                <a:latin typeface="Aptos"/>
                <a:ea typeface="Aptos"/>
                <a:cs typeface="Aptos"/>
              </a:rPr>
              <a:t>GUI RUNS WITHOUT SDRAM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CF7E342-2C5B-4ED7-801C-A1BDFAC2848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4834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E7E4F15-3DA9-477B-BF79-826BEF02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CONNECTIVITY AND STORAGE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ABC8C1-C482-4AAA-B105-33ABEDA3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QSPI stores visuals; ESP-01 exports data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183F40-E41B-4A60-BB75-12D5F705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4153D8-B7FA-4A0D-AF9B-B527A7CB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4654296" cy="2167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1ac1e5a124af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6928" y="1389888"/>
            <a:ext cx="4617720" cy="2130552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E75A9B3-B946-4BF9-835F-DB4D7608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371600"/>
            <a:ext cx="6117336" cy="2167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d52e38a5d4fa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22976" y="1389888"/>
            <a:ext cx="6080760" cy="2130552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12A22FA-D012-4716-84A3-BCC3CC8F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56032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W25Q128 QSPI</a:t>
            </a:r>
            <a:endParaRPr sz="18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B351F3D-9807-48CB-8E3B-87BF4391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461772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JEDEC ID EF 40 18 verified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16 MB non-volatile storage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Background and modern font/icon assets</a:t>
            </a:r>
            <a:endParaRPr sz="16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474AA45-D662-44F5-AE58-686005D9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3858768"/>
            <a:ext cx="256032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ESP-01 + Blynk</a:t>
            </a:r>
            <a:endParaRPr sz="18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30280FB-0A64-48FC-B231-7606F0E6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4279392"/>
            <a:ext cx="56235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USART1 AT command link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Wi-Fi association and TCP confirmed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Virtual-pin update passed</a:t>
            </a:r>
            <a:endParaRPr sz="16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600">
                <a:solidFill>
                  <a:srgbClr val="0F1720"/>
                </a:solidFill>
                <a:latin typeface="Aptos"/>
                <a:ea typeface="Aptos"/>
                <a:cs typeface="Aptos"/>
              </a:rPr>
              <a:t>Lab proof uses HTTP; Rev B should use current TLS</a:t>
            </a:r>
            <a:endParaRPr sz="16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56918B3-47A4-4A86-8AC1-B3A5E4FD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25312"/>
            <a:ext cx="150876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6350">
            <a:solidFill>
              <a:srgbClr val="167C4B">
                <a:alpha val="35000"/>
              </a:srgbClr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38C325F-1A51-4294-89A0-9B02E5A9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5604"/>
            <a:ext cx="15087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00" b="1">
                <a:solidFill>
                  <a:srgbClr val="167C4B"/>
                </a:solidFill>
                <a:latin typeface="Aptos"/>
                <a:ea typeface="Aptos"/>
                <a:cs typeface="Aptos"/>
              </a:rPr>
              <a:t>QSPI  PASS</a:t>
            </a:r>
            <a:endParaRPr sz="10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F8F56DE-9E78-465C-9487-3F0181A9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5925312"/>
            <a:ext cx="160020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6350">
            <a:solidFill>
              <a:srgbClr val="167C4B">
                <a:alpha val="35000"/>
              </a:srgbClr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CB6F28E-17A2-4F05-B072-1873B742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5975604"/>
            <a:ext cx="1600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00" b="1">
                <a:solidFill>
                  <a:srgbClr val="167C4B"/>
                </a:solidFill>
                <a:latin typeface="Aptos"/>
                <a:ea typeface="Aptos"/>
                <a:cs typeface="Aptos"/>
              </a:rPr>
              <a:t>BLYNK  PASS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87762EC-887F-42BD-8848-85497176D9E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61334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04C79D-CCFB-4A31-815A-166DA945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MEASURED EVIDENCE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0557D5-CF3A-4253-BD8B-CBEC40B7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Live readings confirm both I²C buses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FDA1C93-9B93-4E96-8939-B6A149AE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D687F6E-5E3A-47AF-BD2F-8B7920E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572768"/>
            <a:ext cx="202996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01573E1-1802-4137-952C-C2EFE6C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572768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F9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944A24C-A887-44C8-B0F3-843D187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737360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800</a:t>
            </a:r>
            <a:endParaRPr sz="2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E9C9F9-9A65-433E-BAB4-CB9B66F2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22576"/>
            <a:ext cx="16642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ppm CO₂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4B0B461-F6EF-4A9A-9E3F-D88A2CE6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572768"/>
            <a:ext cx="202996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5BE0BE4-3A68-43CF-B4C4-82EFC143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572768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AEA3DDE-3674-4B66-A687-7E344AF3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1737360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30.4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FE6F66-8F70-42D2-B717-E61A240F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2322576"/>
            <a:ext cx="16642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°C · SCD41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D11EF51-10FB-491A-8B22-378E87FD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202996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B0D55E5-6200-460A-993D-F4DFC98E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C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84996AB-C6C7-481D-9C55-78F15579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1737360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54.5</a:t>
            </a:r>
            <a:endParaRPr sz="2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1CF25C-652A-4B2D-87E7-91531F98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2322576"/>
            <a:ext cx="16642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%RH · SCD41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A253A38-3E0E-4682-9A9D-3610217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337560"/>
            <a:ext cx="202996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5DEC038-7EC9-4BB2-B6F9-6D25576B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337560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F9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D28C127-A89F-4E65-836F-E89322CA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502152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32.8</a:t>
            </a:r>
            <a:endParaRPr sz="2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A6BFB5F-A2E5-482A-BF52-F346EB55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4087368"/>
            <a:ext cx="16642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°C · BME688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09D35AA-1DCB-4A39-BC0B-5867CCE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3337560"/>
            <a:ext cx="202996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3863C5A-77C0-4D04-8AD9-81A0EB2B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3337560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98BA078-0E2E-45F7-8790-22B313DD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3502152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41.7</a:t>
            </a:r>
            <a:endParaRPr sz="2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9EBB2EE-FC99-4422-8D83-0D758A66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4087368"/>
            <a:ext cx="16642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%RH · BME688</a:t>
            </a:r>
            <a:endParaRPr sz="1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69090D9-EA70-4C1F-9D26-B84C17F6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3337560"/>
            <a:ext cx="2029968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2700">
            <a:solidFill>
              <a:srgbClr val="EEF2F5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4FF8051-14C3-4B52-92D2-6E652921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3337560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C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A213D7E-BB72-4926-8735-8FF9F388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3502152"/>
            <a:ext cx="16642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1004.4</a:t>
            </a:r>
            <a:endParaRPr sz="2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3EC0A0F-15BC-4185-8AD0-B9976532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4087368"/>
            <a:ext cx="166420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00">
                <a:solidFill>
                  <a:srgbClr val="61707E"/>
                </a:solidFill>
                <a:latin typeface="Aptos"/>
                <a:ea typeface="Aptos"/>
                <a:cs typeface="Aptos"/>
              </a:rPr>
              <a:t>hPa pressure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976D5B2-8D6E-4160-BED0-A2DA45E4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58191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A62B2B"/>
                </a:solidFill>
                <a:latin typeface="Aptos"/>
                <a:ea typeface="Aptos"/>
                <a:cs typeface="Aptos"/>
              </a:rPr>
              <a:t>Flame response</a:t>
            </a:r>
            <a:endParaRPr sz="18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1A1C7E5-59C2-4466-82F4-5A682A6C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057400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8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3.19 V → 1.50 V</a:t>
            </a:r>
            <a:endParaRPr sz="28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6206B35-DC56-4864-9D23-27C86BAE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633472"/>
            <a:ext cx="3429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500">
                <a:solidFill>
                  <a:srgbClr val="61707E"/>
                </a:solidFill>
                <a:latin typeface="Aptos"/>
                <a:ea typeface="Aptos"/>
                <a:cs typeface="Aptos"/>
              </a:rPr>
              <a:t>ADC ≈3950 → ≈1730 when a lighter is presented</a:t>
            </a:r>
            <a:endParaRPr sz="15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2D79BA6-3B4A-4DBA-831C-1F340C9E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7033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Interpretation</a:t>
            </a:r>
            <a:endParaRPr sz="18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CFEF594-0E81-4952-8B50-C055C3B1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4133088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8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These readings prove the electrical and firmware data paths. They are not calibration certificates.</a:t>
            </a:r>
            <a:endParaRPr sz="18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D240DEC1-DC29-4D0B-9A9E-FFF14A01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532120"/>
            <a:ext cx="1920240" cy="310896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F5ED"/>
          </a:solidFill>
          <a:ln xmlns:a="http://schemas.openxmlformats.org/drawingml/2006/main" w="6350">
            <a:solidFill>
              <a:srgbClr val="167C4B">
                <a:alpha val="35000"/>
              </a:srgbClr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3DC0776-8329-41EA-A0F5-99EE53C3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582412"/>
            <a:ext cx="19202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000" b="1">
                <a:solidFill>
                  <a:srgbClr val="167C4B"/>
                </a:solidFill>
                <a:latin typeface="Aptos"/>
                <a:ea typeface="Aptos"/>
                <a:cs typeface="Aptos"/>
              </a:rPr>
              <a:t>SENSORS  PASS</a:t>
            </a:r>
            <a:endParaRPr sz="100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5BC3F5C-8C73-4C5F-8B25-C27E595CDD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4653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9163D8-494D-46B0-AD59-FD64A2DD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VERIFICATION MATRIX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5EB157-1815-4B6D-9EAA-C3F25B7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Core functions pass; three features remain limited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D2ED54-BF32-40CB-9B42-15CABEBF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graphicFrame>
        <p:nvGraphicFramePr>
          <p:cNvPr id="30" name="Table 0"/>
          <p:cNvGraphicFramePr/>
          <p:nvPr/>
        </p:nvGraphicFramePr>
        <p:xfrm>
          <a:off xmlns:a="http://schemas.openxmlformats.org/drawingml/2006/main" x="566928" y="1444752"/>
          <a:ext xmlns:a="http://schemas.openxmlformats.org/drawingml/2006/main" cx="11018520" cy="449884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46120"/>
                <a:gridCol w="1965960"/>
                <a:gridCol w="580644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SUBSYSTEM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Power + STM32 + RGB LCD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167C4B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Stable rails, boot and visible GUI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SCD41 + BME688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167C4B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Live CO₂ / T / RH / pressure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Flame + buzzer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167C4B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ADC + D0 response; silent at reset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ESP-01 + Blynk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167C4B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Wi-Fi, TCP and V-pin update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W25Q128 QSPI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167C4B"/>
                          </a:solidFill>
                          <a:latin typeface="Aptos"/>
                          <a:ea typeface="Aptos"/>
                          <a:cs typeface="Aptos"/>
                        </a:rPr>
                        <a:t>PASS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EF 40 18 + data test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IS42S16400 SDRAM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A62B2B"/>
                          </a:solidFill>
                          <a:latin typeface="Aptos"/>
                          <a:ea typeface="Aptos"/>
                          <a:cs typeface="Aptos"/>
                        </a:rPr>
                        <a:t>FAIL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A5A55A5A → FF00FF00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GT911 touch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A56500"/>
                          </a:solidFill>
                          <a:latin typeface="Aptos"/>
                          <a:ea typeface="Aptos"/>
                          <a:cs typeface="Aptos"/>
                        </a:rPr>
                        <a:t>NOT TESTABLE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Flex tail torn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MCP2221A USB-UART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>
                          <a:solidFill>
                            <a:srgbClr val="A56500"/>
                          </a:solidFill>
                          <a:latin typeface="Aptos"/>
                          <a:ea typeface="Aptos"/>
                          <a:cs typeface="Aptos"/>
                        </a:rPr>
                        <a:t>PARTIAL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>
                          <a:solidFill>
                            <a:srgbClr val="0F1720"/>
                          </a:solidFill>
                          <a:latin typeface="Aptos"/>
                          <a:ea typeface="Aptos"/>
                          <a:cs typeface="Aptos"/>
                        </a:rPr>
                        <a:t>Enumerates; UART unconfirmed</a:t>
                      </a:r>
                      <a:endParaRPr sz="16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09728" marR="109728" marT="54864" marB="54864" anchor="ctr">
                    <a:lnL w="7620" cmpd="sng">
                      <a:solidFill>
                        <a:srgbClr val="D4DCE4"/>
                      </a:solidFill>
                      <a:prstDash val="solid"/>
                    </a:lnL>
                    <a:lnR w="7620" cmpd="sng">
                      <a:solidFill>
                        <a:srgbClr val="D4DCE4"/>
                      </a:solidFill>
                      <a:prstDash val="solid"/>
                    </a:lnR>
                    <a:lnT w="7620" cmpd="sng">
                      <a:solidFill>
                        <a:srgbClr val="D4DCE4"/>
                      </a:solidFill>
                      <a:prstDash val="solid"/>
                    </a:lnT>
                    <a:lnB w="7620" cmpd="sng">
                      <a:solidFill>
                        <a:srgbClr val="D4DC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EF09E8-6CBA-406D-8E52-CB2B94FC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080760"/>
            <a:ext cx="10744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4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demonstrable environmental-monitoring system remains usable because the GUI does not depend on SDRAM and the touch input is not required for sensing or alarm output.</a:t>
            </a:r>
            <a:endParaRPr sz="14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5AC5734-B60C-42B4-8901-988969F3EF5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14860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1FB518-C2F3-40E7-A5AC-67249936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CORRECTIONS AND LESSONS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24C4EC-9D37-4983-BCA1-0156D857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Bring-up failures became Rev-B design rules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BBF695-088E-4B55-B00E-3D315FF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9DE1637-3089-4F8E-AF36-46E294E7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35024"/>
            <a:ext cx="2916936" cy="3273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1CA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d3b8989304ab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90688" y="1353312"/>
            <a:ext cx="2880360" cy="3236976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B68B29B-5E54-4C80-B1FE-CD395E7F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502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88F9A"/>
                </a:solidFill>
                <a:latin typeface="Aptos Display"/>
                <a:ea typeface="Aptos Display"/>
                <a:cs typeface="Aptos Display"/>
              </a:rPr>
              <a:t>01</a:t>
            </a:r>
            <a:endParaRPr sz="18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E18861F-0FAA-4D73-87F3-BE87C79D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160020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8C1C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60DD3-DDEB-40A0-8F57-B884CF86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1417320"/>
            <a:ext cx="5513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Backlight off</a:t>
            </a:r>
            <a:endParaRPr sz="17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CB7795E-EE42-4985-A78F-BF4DECAD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1728216"/>
            <a:ext cx="55138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>
                <a:solidFill>
                  <a:srgbClr val="61707E"/>
                </a:solidFill>
                <a:latin typeface="Aptos"/>
                <a:ea typeface="Aptos"/>
                <a:cs typeface="Aptos"/>
              </a:rPr>
              <a:t>Reversed diode → clearer polarity marking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FCAE569-0CAA-4B19-B9FB-D5731BC3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05456"/>
            <a:ext cx="502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88F9A"/>
                </a:solidFill>
                <a:latin typeface="Aptos Display"/>
                <a:ea typeface="Aptos Display"/>
                <a:cs typeface="Aptos Display"/>
              </a:rPr>
              <a:t>02</a:t>
            </a:r>
            <a:endParaRPr sz="18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2B55614-A08D-40AF-BFE7-EED45785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2688336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8C1CA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3E34340-D6C2-4C44-B975-F1DEF04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2505456"/>
            <a:ext cx="5513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Whole display flashed</a:t>
            </a:r>
            <a:endParaRPr sz="17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104EB2C-3B9D-4C64-BFD4-D21D57C4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2816352"/>
            <a:ext cx="55138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>
                <a:solidFill>
                  <a:srgbClr val="61707E"/>
                </a:solidFill>
                <a:latin typeface="Aptos"/>
                <a:ea typeface="Aptos"/>
                <a:cs typeface="Aptos"/>
              </a:rPr>
              <a:t>Full-frame redraw → update dynamic fields only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9A03302-1068-45BC-A8B1-A3F6A9F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93592"/>
            <a:ext cx="502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88F9A"/>
                </a:solidFill>
                <a:latin typeface="Aptos Display"/>
                <a:ea typeface="Aptos Display"/>
                <a:cs typeface="Aptos Display"/>
              </a:rPr>
              <a:t>03</a:t>
            </a:r>
            <a:endParaRPr sz="18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B058F4A-6853-4525-ACF3-3107E92A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77647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8C1C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A0C6FDD-159E-4584-870C-541F1292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593592"/>
            <a:ext cx="5513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SSL connection failed</a:t>
            </a:r>
            <a:endParaRPr sz="17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8182D5F-C0F5-47C9-AAB2-230AED39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3904488"/>
            <a:ext cx="55138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>
                <a:solidFill>
                  <a:srgbClr val="61707E"/>
                </a:solidFill>
                <a:latin typeface="Aptos"/>
                <a:ea typeface="Aptos"/>
                <a:cs typeface="Aptos"/>
              </a:rPr>
              <a:t>Legacy AT firmware → use current TLS-capable module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2C28DEE-74F1-4078-9A5F-BE709B8D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81728"/>
            <a:ext cx="502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88F9A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sz="18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2E958DA-C514-4C48-8E7A-5CAEB27D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4864608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8C1C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C5EFB0A-68B7-429B-9285-63CAA209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4681728"/>
            <a:ext cx="5513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0F1720"/>
                </a:solidFill>
                <a:latin typeface="Aptos"/>
                <a:ea typeface="Aptos"/>
                <a:cs typeface="Aptos"/>
              </a:rPr>
              <a:t>SDRAM mismatch</a:t>
            </a:r>
            <a:endParaRPr sz="17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784EF42-F6D6-483F-9BFE-83A0CC02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36" y="4992624"/>
            <a:ext cx="55138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>
                <a:solidFill>
                  <a:srgbClr val="61707E"/>
                </a:solidFill>
                <a:latin typeface="Aptos"/>
                <a:ea typeface="Aptos"/>
                <a:cs typeface="Aptos"/>
              </a:rPr>
              <a:t>Unresolved → verify FMC pins, joints and timing</a:t>
            </a:r>
            <a:endParaRPr sz="16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F0DCDE3-F634-4421-9DED-D187A5A1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4864608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A62B2B"/>
                </a:solidFill>
                <a:latin typeface="Aptos"/>
                <a:ea typeface="Aptos"/>
                <a:cs typeface="Aptos"/>
              </a:rPr>
              <a:t>Mechanical lesson</a:t>
            </a:r>
            <a:endParaRPr sz="17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8A65E99-CB5E-40C6-86C9-745226CA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5257800"/>
            <a:ext cx="324612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6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touch failure is a torn flex—not a GT911 software problem. Replacement is the robust remedy.</a:t>
            </a:r>
            <a:endParaRPr sz="16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601182E-BE8F-47DB-B752-F05A47F9CF9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9400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442D76-E226-44D5-B256-CAA24217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3891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CONCLUSION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9F28C8-1909-4378-8914-9BF01C89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76656"/>
            <a:ext cx="11109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500" b="1">
                <a:solidFill>
                  <a:srgbClr val="0F1720"/>
                </a:solidFill>
                <a:latin typeface="Aptos Display"/>
                <a:ea typeface="Aptos Display"/>
                <a:cs typeface="Aptos Display"/>
              </a:rPr>
              <a:t>The architecture works—and Rev B is clear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4A43F70-7984-450D-AE2A-34B3D95C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C2C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BE7AD9-A910-4BF3-8741-4A6F167D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0472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000" b="1">
                <a:solidFill>
                  <a:srgbClr val="167C4B"/>
                </a:solidFill>
                <a:latin typeface="Aptos"/>
                <a:ea typeface="Aptos"/>
                <a:cs typeface="Aptos"/>
              </a:rPr>
              <a:t>Demonstrated now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1B6C696-C894-416C-8C4E-A0CAE9EC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38528"/>
            <a:ext cx="4919472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700">
                <a:solidFill>
                  <a:srgbClr val="0F1720"/>
                </a:solidFill>
                <a:latin typeface="Aptos"/>
                <a:ea typeface="Aptos"/>
                <a:cs typeface="Aptos"/>
              </a:rPr>
              <a:t>Custom four-layer PCB boots reliably</a:t>
            </a:r>
            <a:endParaRPr sz="17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700">
                <a:solidFill>
                  <a:srgbClr val="0F1720"/>
                </a:solidFill>
                <a:latin typeface="Aptos"/>
                <a:ea typeface="Aptos"/>
                <a:cs typeface="Aptos"/>
              </a:rPr>
              <a:t>Environmental dashboard updates smoothly</a:t>
            </a:r>
            <a:endParaRPr sz="17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700">
                <a:solidFill>
                  <a:srgbClr val="0F1720"/>
                </a:solidFill>
                <a:latin typeface="Aptos"/>
                <a:ea typeface="Aptos"/>
                <a:cs typeface="Aptos"/>
              </a:rPr>
              <a:t>Local flame/gas logic drives a controlled buzzer</a:t>
            </a:r>
            <a:endParaRPr sz="17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700">
                <a:solidFill>
                  <a:srgbClr val="0F1720"/>
                </a:solidFill>
                <a:latin typeface="Aptos"/>
                <a:ea typeface="Aptos"/>
                <a:cs typeface="Aptos"/>
              </a:rPr>
              <a:t>Wi-Fi telemetry and QSPI assets work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75EBC5D-3FE9-48A2-9CA4-2E112512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490472"/>
            <a:ext cx="2880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20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Rev-B priorities</a:t>
            </a:r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4F09B43-AB5E-4111-99C8-528BF9ED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938528"/>
            <a:ext cx="498348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700">
                <a:solidFill>
                  <a:srgbClr val="0F1720"/>
                </a:solidFill>
                <a:latin typeface="Aptos"/>
                <a:ea typeface="Aptos"/>
                <a:cs typeface="Aptos"/>
              </a:rPr>
              <a:t>Diagnose/redesign the FMC SDRAM path</a:t>
            </a:r>
            <a:endParaRPr sz="17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700">
                <a:solidFill>
                  <a:srgbClr val="0F1720"/>
                </a:solidFill>
                <a:latin typeface="Aptos"/>
                <a:ea typeface="Aptos"/>
                <a:cs typeface="Aptos"/>
              </a:rPr>
              <a:t>Replace the touch assembly and add strain relief</a:t>
            </a:r>
            <a:endParaRPr sz="17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700">
                <a:solidFill>
                  <a:srgbClr val="0F1720"/>
                </a:solidFill>
                <a:latin typeface="Aptos"/>
                <a:ea typeface="Aptos"/>
                <a:cs typeface="Aptos"/>
              </a:rPr>
              <a:t>Use modern secure Wi-Fi hardware</a:t>
            </a:r>
            <a:endParaRPr sz="1700"/>
          </a:p>
          <a:p xmlns:a="http://schemas.openxmlformats.org/drawingml/2006/main"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sz="1700">
                <a:solidFill>
                  <a:srgbClr val="0F1720"/>
                </a:solidFill>
                <a:latin typeface="Aptos"/>
                <a:ea typeface="Aptos"/>
                <a:cs typeface="Aptos"/>
              </a:rPr>
              <a:t>Add deterministic USB-UART loopback and isolation points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9B6639-0EB4-4065-995F-0505146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3440"/>
            <a:ext cx="109270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3F3909-0711-4834-9287-5C405759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92040"/>
            <a:ext cx="224028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700" b="1">
                <a:solidFill>
                  <a:srgbClr val="55C2CF"/>
                </a:solidFill>
                <a:latin typeface="Aptos"/>
                <a:ea typeface="Aptos"/>
                <a:cs typeface="Aptos"/>
              </a:rPr>
              <a:t>Final takeaway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F79968-58C8-4914-8F87-46E22336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828032"/>
            <a:ext cx="801928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demonstrable and functionally useful course prototype—with verified core paths and limitations that are explicit, contained and actionable.</a:t>
            </a:r>
            <a:endParaRPr sz="1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4D4928B-FB65-40F6-83A7-9861060D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126480"/>
            <a:ext cx="10881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</a:pPr>
            <a:r>
              <a:rPr sz="1100" b="1">
                <a:solidFill>
                  <a:srgbClr val="188F9A"/>
                </a:solidFill>
                <a:latin typeface="Aptos"/>
                <a:ea typeface="Aptos"/>
                <a:cs typeface="Aptos"/>
              </a:rPr>
              <a:t>LIVE DEMO: power → dashboard → sensor updates → flame warning → Blynk → QSPI test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3B47BFF-6A5E-4ACB-A861-FC93E23489A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40896" y="653796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7C8793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43505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2026-08-13T17:24:54.4160000Z</dcterms:created>
  <dcterms:modified xsi:type="dcterms:W3CDTF">2026-08-13T17:24:54.4160000Z</dcterms:modified>
</coreProperties>
</file>