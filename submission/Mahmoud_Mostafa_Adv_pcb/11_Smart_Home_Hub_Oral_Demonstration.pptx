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-48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project covers the complete Advanced PCB workflow: schematic capture, a custom four-layer PCB, fabrication, assembly, embedded firmware and final verification. </a:t>
            </a:r>
            <a:r>
              <a:rPr dirty="0"/>
              <a:t>The finished hub measures the room, presents data locally, reports selected values remotely and raises independent local alarms.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Smart_Home_Hub_Technical_Report</a:t>
            </a:r>
            <a:r>
              <a:rPr dirty="0"/>
              <a:t>(1).pdf, cover and pp. 2–5.</a:t>
            </a:r>
          </a:p>
          <a:p>
            <a:r>
              <a:rPr dirty="0"/>
              <a:t>- User-supplied final-system photograph: WhatsApp Image 2026-08-16 at 1.04.45 PM.jpeg.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project deliberately combines sensing, a high-pin-count RGB display, switch-mode power, Wi-Fi, local alarms and two external memories. The core achievement is that these functions operate together on one manufactured board.</a:t>
            </a:r>
          </a:p>
          <a:p>
            <a:endParaRPr/>
          </a:p>
          <a:p>
            <a:r>
              <a:t>[Sources]</a:t>
            </a:r>
          </a:p>
          <a:p>
            <a:r>
              <a:t>- Smart_Home_Hub_Technical_Report(1).pdf, pp. 2–7.</a:t>
            </a:r>
          </a:p>
          <a:p>
            <a:r>
              <a:t>- User-supplied component-side photograph: WhatsApp Image 2026-08-16 at 1.04.46 PM.jpeg.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sensors use separate I²C peripherals, simplifying debugging and avoiding unnecessary bus interaction. LTDC and FMC handle the graphics path, USART1 serves the ESP-01, USART3 is exposed through the MCP2221A, and the local alarm path does not depend on the internet.</a:t>
            </a:r>
          </a:p>
          <a:p>
            <a:endParaRPr/>
          </a:p>
          <a:p>
            <a:r>
              <a:t>[Sources]</a:t>
            </a:r>
          </a:p>
          <a:p>
            <a:r>
              <a:t>- Smart_Home_Hub_Technical_Report(1).pdf, pp. 7–13 and 17–19.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board is powered from a regulated 5 V adapter. The digital rail is generated locally, the analog supply is filtered, and important control nodes have physical pull resistors so power-up cannot unintentionally activate the buzzer.</a:t>
            </a:r>
          </a:p>
          <a:p>
            <a:endParaRPr/>
          </a:p>
          <a:p>
            <a:r>
              <a:t>[Sources]</a:t>
            </a:r>
          </a:p>
          <a:p>
            <a:r>
              <a:t>- Smart_Home_Hub_Technical_Report(1).pdf, pp. 8–12.</a:t>
            </a:r>
          </a:p>
          <a:p>
            <a:r>
              <a:t>- User-supplied close-up: WhatsApp Image 2026-08-16 at 1.04.46 PM (1).jpeg.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Layer 1 is a continuous ground reference and layer 2 distributes 3.3 V. The stack supports dense MCU, SDRAM and display escape routing while controlling current-return paths; DRC and fabricator CAM feedback were incorporated before production.</a:t>
            </a:r>
          </a:p>
          <a:p>
            <a:endParaRPr/>
          </a:p>
          <a:p>
            <a:r>
              <a:t>[Sources]</a:t>
            </a:r>
          </a:p>
          <a:p>
            <a:r>
              <a:t>- Smart_Home_Hub_Technical_Report(1).pdf, pp. 14–16.</a:t>
            </a:r>
          </a:p>
          <a:p>
            <a:r>
              <a:t>- User-supplied rear-side photograph: WhatsApp Image 2026-08-16 at 1.04.45 PM (2).jpeg.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QSPI stores assets that must survive power loss. SDRAM supplies the capacity and bandwidth for graphics: the firmware renders into the inactive buffer, performs the required cache maintenance and swaps the LTDC address during vertical blanking to prevent full-screen flashing.</a:t>
            </a:r>
          </a:p>
          <a:p>
            <a:endParaRPr/>
          </a:p>
          <a:p>
            <a:r>
              <a:t>[Sources]</a:t>
            </a:r>
          </a:p>
          <a:p>
            <a:r>
              <a:t>- Smart_Home_Hub_Technical_Report(1).pdf, pp. 13 and 17–18.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user sees the values needed during normal operation; raw flame and gas channels remain background diagnostics. The SCD41 is the authoritative room-temperature source and uses the board-specific compensation and smoothing developed during testing; BME688 pressure remains visible while its temperature is diagnostic.</a:t>
            </a:r>
          </a:p>
          <a:p>
            <a:endParaRPr/>
          </a:p>
          <a:p>
            <a:r>
              <a:t>[Sources]</a:t>
            </a:r>
          </a:p>
          <a:p>
            <a:r>
              <a:t>- Smart_Home_Hub_Technical_Report(1).pdf, pp. 17–19.</a:t>
            </a:r>
          </a:p>
          <a:p>
            <a:r>
              <a:t>- User-supplied dashboard photograph: WhatsApp Image 2026-08-16 at 1.04.45 PM (1).jpeg.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Alarms are evaluated locally and do not depend on Blynk or internet availability. Persistence and hysteresis prevent rapid alarm chatter. The BME688 gas-resistance channel is useful for relative environmental change only and must never replace a certified gas or life-safety alarm.</a:t>
            </a:r>
          </a:p>
          <a:p>
            <a:endParaRPr/>
          </a:p>
          <a:p>
            <a:r>
              <a:t>[Sources]</a:t>
            </a:r>
          </a:p>
          <a:p>
            <a:r>
              <a:t>- Smart_Home_Hub_Technical_Report(1).pdf, pp. 11 and 18–21.</a:t>
            </a:r>
          </a:p>
          <a:p>
            <a:r>
              <a:t>- User-supplied alarm photograph: WhatsApp Image 2026-08-16 at 1.04.46 PM (2).jpeg.</a:t>
            </a:r>
          </a:p>
          <a:p>
            <a:r>
              <a:t>- Bosch Sensortec, BME688 product page: https://www.bosch-sensortec.com/en/products/environmental-sensors/gas-sensors/bme688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ESP-01 provides cloud telemetry and internet data over USART1. The final MCP2221A result supersedes the earlier report status: continuity testing located a USBLC6-2SC6 D+ path short to ground, and after rework the device enumerated and USART3 communication passed in both directions.</a:t>
            </a:r>
          </a:p>
          <a:p>
            <a:endParaRPr/>
          </a:p>
          <a:p>
            <a:r>
              <a:t>[Sources]</a:t>
            </a:r>
          </a:p>
          <a:p>
            <a:r>
              <a:t>- Smart_Home_Hub_Technical_Report(1).pdf, pp. 12 and 20–22 (earlier status).</a:t>
            </a:r>
          </a:p>
          <a:p>
            <a:r>
              <a:t>- Final bench correction supplied by the user on 16 August 2026: MCP2221A PASS after USBLC6-2SC6 D+ short repair.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displayed values are demonstration snapshots rather than calibration certificates. A PASS was assigned only when the intended end-to-end function was observed. Touch remains not testable because the external GT911 flex was mechanically torn; that is the single remaining unavailable feature.</a:t>
            </a:r>
          </a:p>
          <a:p>
            <a:endParaRPr/>
          </a:p>
          <a:p>
            <a:r>
              <a:t>[Sources]</a:t>
            </a:r>
          </a:p>
          <a:p>
            <a:r>
              <a:t>- Smart_Home_Hub_Technical_Report(1).pdf, pp. 20–21.</a:t>
            </a:r>
          </a:p>
          <a:p>
            <a:r>
              <a:t>- User-supplied verified dashboard photograph: WhatsApp Image 2026-08-16 at 1.05.11 PM.jpeg.</a:t>
            </a:r>
          </a:p>
          <a:p>
            <a:r>
              <a:t>- Final MCP2221A status supplied by the user on 16 August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project did not succeed because no fault occurred; it succeeded because each fault was isolated systematically. Voltage probing found the backlight polarity issue, repeatable memory patterns separated configuration from solder problems, and continuity testing located the USB D+ short.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Smart_Home_Hub_Technical_Report</a:t>
            </a:r>
            <a:r>
              <a:rPr dirty="0"/>
              <a:t>(1).pdf, pp. 22–23.</a:t>
            </a:r>
          </a:p>
          <a:p>
            <a:r>
              <a:rPr dirty="0"/>
              <a:t>- Final SDRAM and MCP2221A results supplied by the user on 16 August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Smart_Home_Hub_Technical_Report</a:t>
            </a:r>
            <a:r>
              <a:rPr dirty="0"/>
              <a:t>(1).pdf, pp. 20–25.</a:t>
            </a:r>
          </a:p>
          <a:p>
            <a:r>
              <a:rPr dirty="0"/>
              <a:t>- Final integrated status supplied by the user on 16 August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246F8B3-8321-4588-85F4-3976B33DF7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8F9E57-7DCD-4DBF-A0A4-664ED1A5C3B4}"/>
              </a:ext>
            </a:extLst>
          </p:cNvPr>
          <p:cNvSpPr>
            <a:spLocks noGrp="1"/>
          </p:cNvSpPr>
          <p:nvPr/>
        </p:nvSpPr>
        <p:spPr>
          <a:xfrm>
            <a:off x="628650" y="59055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0A6B2"/>
                </a:solidFill>
              </a:defRPr>
            </a:pPr>
            <a:r>
              <a:rPr sz="1125" b="1">
                <a:solidFill>
                  <a:srgbClr val="00A6B2"/>
                </a:solidFill>
              </a:rPr>
              <a:t>ADVANCED PCB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7F9752-98B5-442E-9BCD-93697B9C8CC5}"/>
              </a:ext>
            </a:extLst>
          </p:cNvPr>
          <p:cNvSpPr>
            <a:spLocks noGrp="1"/>
          </p:cNvSpPr>
          <p:nvPr/>
        </p:nvSpPr>
        <p:spPr>
          <a:xfrm>
            <a:off x="628650" y="1219200"/>
            <a:ext cx="47625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650" b="1">
                <a:solidFill>
                  <a:srgbClr val="0B1728"/>
                </a:solidFill>
              </a:defRPr>
            </a:pPr>
            <a:r>
              <a:rPr sz="4650" b="1">
                <a:solidFill>
                  <a:srgbClr val="0B1728"/>
                </a:solidFill>
              </a:rPr>
              <a:t>Smart Home</a:t>
            </a:r>
          </a:p>
          <a:p>
            <a:pPr algn="l">
              <a:defRPr sz="4650" b="1">
                <a:solidFill>
                  <a:srgbClr val="0B1728"/>
                </a:solidFill>
              </a:defRPr>
            </a:pPr>
            <a:r>
              <a:rPr sz="4650" b="1">
                <a:solidFill>
                  <a:srgbClr val="0B1728"/>
                </a:solidFill>
              </a:rPr>
              <a:t>Hub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64E6BD-089B-456D-86A9-2AD942E35631}"/>
              </a:ext>
            </a:extLst>
          </p:cNvPr>
          <p:cNvSpPr>
            <a:spLocks noGrp="1"/>
          </p:cNvSpPr>
          <p:nvPr/>
        </p:nvSpPr>
        <p:spPr>
          <a:xfrm>
            <a:off x="628650" y="2895600"/>
            <a:ext cx="4667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0">
                <a:solidFill>
                  <a:srgbClr val="2B3E55"/>
                </a:solidFill>
              </a:defRPr>
            </a:pPr>
            <a:r>
              <a:rPr sz="1800" b="0">
                <a:solidFill>
                  <a:srgbClr val="2B3E55"/>
                </a:solidFill>
              </a:rPr>
              <a:t>A four-layer STM32 environmental, connected-weather and alert platform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89EB19-1D7C-4694-B26B-97BBD4B3F537}"/>
              </a:ext>
            </a:extLst>
          </p:cNvPr>
          <p:cNvSpPr>
            <a:spLocks noGrp="1"/>
          </p:cNvSpPr>
          <p:nvPr/>
        </p:nvSpPr>
        <p:spPr>
          <a:xfrm>
            <a:off x="628650" y="4057650"/>
            <a:ext cx="952500" cy="47625"/>
          </a:xfrm>
          <a:prstGeom prst="rect">
            <a:avLst/>
          </a:prstGeom>
          <a:solidFill>
            <a:srgbClr val="246BF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A963E5-439C-41D1-9B87-21BAA8475EF5}"/>
              </a:ext>
            </a:extLst>
          </p:cNvPr>
          <p:cNvSpPr>
            <a:spLocks noGrp="1"/>
          </p:cNvSpPr>
          <p:nvPr/>
        </p:nvSpPr>
        <p:spPr>
          <a:xfrm>
            <a:off x="628650" y="434340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B1728"/>
                </a:solidFill>
              </a:defRPr>
            </a:pPr>
            <a:r>
              <a:rPr sz="1575" b="1">
                <a:solidFill>
                  <a:srgbClr val="0B1728"/>
                </a:solidFill>
              </a:rPr>
              <a:t>Mahmoud Mostafa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55C7C0-93D9-4412-9BDF-DC6A60958960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D6B7E"/>
                </a:solidFill>
              </a:defRPr>
            </a:pPr>
            <a:r>
              <a:rPr sz="1200" b="0">
                <a:solidFill>
                  <a:srgbClr val="5D6B7E"/>
                </a:solidFill>
              </a:rPr>
              <a:t>Professional Bachelor Electronics-ICT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279B50-BA1B-4CAE-A5EC-9E54B5A755A2}"/>
              </a:ext>
            </a:extLst>
          </p:cNvPr>
          <p:cNvSpPr>
            <a:spLocks noGrp="1"/>
          </p:cNvSpPr>
          <p:nvPr/>
        </p:nvSpPr>
        <p:spPr>
          <a:xfrm>
            <a:off x="628650" y="51054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D6B7E"/>
                </a:solidFill>
              </a:defRPr>
            </a:pPr>
            <a:r>
              <a:rPr sz="1125" b="0">
                <a:solidFill>
                  <a:srgbClr val="5D6B7E"/>
                </a:solidFill>
              </a:rPr>
              <a:t>B-TM-YT6250 · Jurre De Weerdt · 2025–2026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rcRect l="12121" r="12121"/>
          <a:stretch>
            <a:fillRect/>
          </a:stretch>
        </p:blipFill>
        <p:spPr>
          <a:xfrm>
            <a:off x="5867400" y="514350"/>
            <a:ext cx="5715000" cy="5657850"/>
          </a:xfrm>
          <a:prstGeom prst="roundRect">
            <a:avLst>
              <a:gd name="adj" fmla="val 2020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F2873B2-BD05-44C1-94D2-C8ED84B17549}"/>
              </a:ext>
            </a:extLst>
          </p:cNvPr>
          <p:cNvSpPr>
            <a:spLocks noGrp="1"/>
          </p:cNvSpPr>
          <p:nvPr/>
        </p:nvSpPr>
        <p:spPr>
          <a:xfrm>
            <a:off x="6324600" y="5619750"/>
            <a:ext cx="4800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MANUFACTURED · ASSEMBLED · VERIFIED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4B2E6E-3E17-44BE-A30A-8B1941813293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77879A"/>
                </a:solidFill>
              </a:defRPr>
            </a:pPr>
            <a:r>
              <a:rPr sz="825" b="1">
                <a:solidFill>
                  <a:srgbClr val="77879A"/>
                </a:solidFill>
              </a:rPr>
              <a:t>SMART HOME HUB · ADVANCED PCB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2319DD-B79B-4B51-841A-E49D2D71720A}"/>
              </a:ext>
            </a:extLst>
          </p:cNvPr>
          <p:cNvSpPr>
            <a:spLocks noGrp="1"/>
          </p:cNvSpPr>
          <p:nvPr/>
        </p:nvSpPr>
        <p:spPr>
          <a:xfrm>
            <a:off x="10668000" y="651510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77879A"/>
                </a:solidFill>
              </a:defRPr>
            </a:pPr>
            <a:r>
              <a:rPr sz="825" b="1">
                <a:solidFill>
                  <a:srgbClr val="77879A"/>
                </a:solidFill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436818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E2F4C0D-FD94-43D3-94EC-E1324149173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A6B2"/>
                </a:solidFill>
              </a:defRPr>
            </a:pPr>
            <a:r>
              <a:rPr sz="975" b="1">
                <a:solidFill>
                  <a:srgbClr val="00A6B2"/>
                </a:solidFill>
              </a:rPr>
              <a:t>PROJECT OUTCOME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561ABB-68D9-4461-AEE4-AAE3EBC5128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0B1728"/>
                </a:solidFill>
              </a:defRPr>
            </a:pPr>
            <a:r>
              <a:rPr sz="3000" b="1">
                <a:solidFill>
                  <a:srgbClr val="0B1728"/>
                </a:solidFill>
              </a:rPr>
              <a:t>One PCB delivers four complete outcomes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566215-D966-4777-BE8F-9E82B0335502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D6E0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6FD20B-56AE-46D9-A26E-263D2052DDB1}"/>
              </a:ext>
            </a:extLst>
          </p:cNvPr>
          <p:cNvSpPr>
            <a:spLocks noGrp="1"/>
          </p:cNvSpPr>
          <p:nvPr/>
        </p:nvSpPr>
        <p:spPr>
          <a:xfrm>
            <a:off x="11144250" y="2857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D6B7E"/>
                </a:solidFill>
              </a:defRPr>
            </a:pPr>
            <a:r>
              <a:rPr sz="975" b="1">
                <a:solidFill>
                  <a:srgbClr val="5D6B7E"/>
                </a:solidFill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C0C89A-8381-4F07-BABA-98E21DC9E9E9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628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5D6B7E"/>
                </a:solidFill>
              </a:defRPr>
            </a:pPr>
            <a:r>
              <a:rPr sz="1650" b="0">
                <a:solidFill>
                  <a:srgbClr val="5D6B7E"/>
                </a:solidFill>
              </a:rPr>
              <a:t>The prototype is evaluated as an integrated system—not as isolated circuits.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4EDF2-D280-4A47-B51F-2A55A2018667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00A6B2"/>
                </a:solidFill>
              </a:defRPr>
            </a:pPr>
            <a:r>
              <a:rPr sz="3150" b="1">
                <a:solidFill>
                  <a:srgbClr val="00A6B2"/>
                </a:solidFill>
              </a:rPr>
              <a:t>LIVE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C4CF6B-3E3B-4A50-A634-680549963B13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5D6B7E"/>
                </a:solidFill>
              </a:defRPr>
            </a:pPr>
            <a:r>
              <a:rPr sz="1050" b="1">
                <a:solidFill>
                  <a:srgbClr val="5D6B7E"/>
                </a:solidFill>
              </a:rPr>
              <a:t>LOCAL ENVIRONMENTAL DASHBOARD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D9A389-C668-4F18-B67B-A0541F0D971B}"/>
              </a:ext>
            </a:extLst>
          </p:cNvPr>
          <p:cNvSpPr>
            <a:spLocks noGrp="1"/>
          </p:cNvSpPr>
          <p:nvPr/>
        </p:nvSpPr>
        <p:spPr>
          <a:xfrm>
            <a:off x="3276600" y="211455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D94F5C"/>
                </a:solidFill>
              </a:defRPr>
            </a:pPr>
            <a:r>
              <a:rPr sz="3150" b="1">
                <a:solidFill>
                  <a:srgbClr val="D94F5C"/>
                </a:solidFill>
              </a:rPr>
              <a:t>LOCAL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18A5DC-BB76-4273-9286-E228A6CB81CC}"/>
              </a:ext>
            </a:extLst>
          </p:cNvPr>
          <p:cNvSpPr>
            <a:spLocks noGrp="1"/>
          </p:cNvSpPr>
          <p:nvPr/>
        </p:nvSpPr>
        <p:spPr>
          <a:xfrm>
            <a:off x="3276600" y="27051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5D6B7E"/>
                </a:solidFill>
              </a:defRPr>
            </a:pPr>
            <a:r>
              <a:rPr sz="1050" b="1">
                <a:solidFill>
                  <a:srgbClr val="5D6B7E"/>
                </a:solidFill>
              </a:rPr>
              <a:t>INDEPENDENT ALARM PATH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8BD267-59F2-4B42-A13A-EAD438E16DA1}"/>
              </a:ext>
            </a:extLst>
          </p:cNvPr>
          <p:cNvSpPr>
            <a:spLocks noGrp="1"/>
          </p:cNvSpPr>
          <p:nvPr/>
        </p:nvSpPr>
        <p:spPr>
          <a:xfrm>
            <a:off x="609600" y="346710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246BFD"/>
                </a:solidFill>
              </a:defRPr>
            </a:pPr>
            <a:r>
              <a:rPr sz="3150" b="1">
                <a:solidFill>
                  <a:srgbClr val="246BFD"/>
                </a:solidFill>
              </a:rPr>
              <a:t>CLOUD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C7BD4D-4B18-4CD9-B461-D0C76CE427CF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5D6B7E"/>
                </a:solidFill>
              </a:defRPr>
            </a:pPr>
            <a:r>
              <a:rPr sz="1050" b="1">
                <a:solidFill>
                  <a:srgbClr val="5D6B7E"/>
                </a:solidFill>
              </a:rPr>
              <a:t>WI-FI, BLYNK AND WEATHER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6E9825-0BD6-4E2A-8D56-587064C8618A}"/>
              </a:ext>
            </a:extLst>
          </p:cNvPr>
          <p:cNvSpPr>
            <a:spLocks noGrp="1"/>
          </p:cNvSpPr>
          <p:nvPr/>
        </p:nvSpPr>
        <p:spPr>
          <a:xfrm>
            <a:off x="3276600" y="346710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28A66A"/>
                </a:solidFill>
              </a:defRPr>
            </a:pPr>
            <a:r>
              <a:rPr sz="3150" b="1">
                <a:solidFill>
                  <a:srgbClr val="28A66A"/>
                </a:solidFill>
              </a:rPr>
              <a:t>2×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9F88DC-44CD-4F22-A4F3-A82D9D6BAFC6}"/>
              </a:ext>
            </a:extLst>
          </p:cNvPr>
          <p:cNvSpPr>
            <a:spLocks noGrp="1"/>
          </p:cNvSpPr>
          <p:nvPr/>
        </p:nvSpPr>
        <p:spPr>
          <a:xfrm>
            <a:off x="3276600" y="40576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5D6B7E"/>
                </a:solidFill>
              </a:defRPr>
            </a:pPr>
            <a:r>
              <a:rPr sz="1050" b="1">
                <a:solidFill>
                  <a:srgbClr val="5D6B7E"/>
                </a:solidFill>
              </a:rPr>
              <a:t>EXTERNAL-MEMORY TECHNOLOGIES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91CEBB-2D01-41A4-B26F-F4FB6D375D38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5D6B7E"/>
                </a:solidFill>
              </a:defRPr>
            </a:pPr>
            <a:r>
              <a:rPr sz="1125" b="1">
                <a:solidFill>
                  <a:srgbClr val="5D6B7E"/>
                </a:solidFill>
              </a:rPr>
              <a:t>Core result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9F060C-28BB-4534-A538-2EEA8703FD4B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523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0B1728"/>
                </a:solidFill>
              </a:defRPr>
            </a:pPr>
            <a:r>
              <a:rPr sz="1875" b="1">
                <a:solidFill>
                  <a:srgbClr val="0B1728"/>
                </a:solidFill>
              </a:rPr>
              <a:t>Senses · displays · warns · stores · communicates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rcRect l="8228" r="8228"/>
          <a:stretch>
            <a:fillRect/>
          </a:stretch>
        </p:blipFill>
        <p:spPr>
          <a:xfrm>
            <a:off x="6553200" y="1504950"/>
            <a:ext cx="5029200" cy="4514850"/>
          </a:xfrm>
          <a:prstGeom prst="roundRect">
            <a:avLst>
              <a:gd name="adj" fmla="val 2532"/>
            </a:avLst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AF26244-97AD-4E34-8B4A-EA1F51A9A4E2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77879A"/>
                </a:solidFill>
              </a:defRPr>
            </a:pPr>
            <a:r>
              <a:rPr sz="825" b="1">
                <a:solidFill>
                  <a:srgbClr val="77879A"/>
                </a:solidFill>
              </a:rPr>
              <a:t>SMART HOME HUB · ADVANCED PCB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D790C2-516D-4FBE-9C1B-ABD5A213DCB2}"/>
              </a:ext>
            </a:extLst>
          </p:cNvPr>
          <p:cNvSpPr>
            <a:spLocks noGrp="1"/>
          </p:cNvSpPr>
          <p:nvPr/>
        </p:nvSpPr>
        <p:spPr>
          <a:xfrm>
            <a:off x="10668000" y="651510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77879A"/>
                </a:solidFill>
              </a:defRPr>
            </a:pPr>
            <a:r>
              <a:rPr sz="825" b="1">
                <a:solidFill>
                  <a:srgbClr val="77879A"/>
                </a:solidFill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394666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41C86CA-B607-4D88-9BC3-2FE1F1C10D0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A6B2"/>
                </a:solidFill>
              </a:defRPr>
            </a:pPr>
            <a:r>
              <a:rPr sz="975" b="1">
                <a:solidFill>
                  <a:srgbClr val="00A6B2"/>
                </a:solidFill>
              </a:rPr>
              <a:t>SYSTEM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230793-20EC-44A0-9E56-56D65AB28B3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0B1728"/>
                </a:solidFill>
              </a:defRPr>
            </a:pPr>
            <a:r>
              <a:rPr sz="3000" b="1">
                <a:solidFill>
                  <a:srgbClr val="0B1728"/>
                </a:solidFill>
              </a:rPr>
              <a:t>STM32F746 coordinates every subsystem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C28B95-06F2-4084-A2C4-D75C5CBBAE03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D6E0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BD68F4-C2AB-412F-B67E-06885FC1109D}"/>
              </a:ext>
            </a:extLst>
          </p:cNvPr>
          <p:cNvSpPr>
            <a:spLocks noGrp="1"/>
          </p:cNvSpPr>
          <p:nvPr/>
        </p:nvSpPr>
        <p:spPr>
          <a:xfrm>
            <a:off x="11144250" y="2857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D6B7E"/>
                </a:solidFill>
              </a:defRPr>
            </a:pPr>
            <a:r>
              <a:rPr sz="975" b="1">
                <a:solidFill>
                  <a:srgbClr val="5D6B7E"/>
                </a:solidFill>
              </a:rPr>
              <a:t>03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25BB0A0-B602-46F8-99C6-0B42254F7EEA}"/>
              </a:ext>
            </a:extLst>
          </p:cNvPr>
          <p:cNvSpPr>
            <a:spLocks noGrp="1"/>
          </p:cNvSpPr>
          <p:nvPr/>
        </p:nvSpPr>
        <p:spPr>
          <a:xfrm>
            <a:off x="2476500" y="2076450"/>
            <a:ext cx="2095500" cy="304800"/>
          </a:xfrm>
          <a:prstGeom prst="rightArrow">
            <a:avLst/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7217FE9-654A-4549-AF5F-100AE21DB964}"/>
              </a:ext>
            </a:extLst>
          </p:cNvPr>
          <p:cNvSpPr>
            <a:spLocks noGrp="1"/>
          </p:cNvSpPr>
          <p:nvPr/>
        </p:nvSpPr>
        <p:spPr>
          <a:xfrm>
            <a:off x="2476500" y="3124200"/>
            <a:ext cx="2095500" cy="304800"/>
          </a:xfrm>
          <a:prstGeom prst="rightArrow">
            <a:avLst/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771839E-9496-4079-A669-DB7BF75BC49E}"/>
              </a:ext>
            </a:extLst>
          </p:cNvPr>
          <p:cNvSpPr>
            <a:spLocks noGrp="1"/>
          </p:cNvSpPr>
          <p:nvPr/>
        </p:nvSpPr>
        <p:spPr>
          <a:xfrm>
            <a:off x="7620000" y="2076450"/>
            <a:ext cx="2095500" cy="304800"/>
          </a:xfrm>
          <a:prstGeom prst="rightArrow">
            <a:avLst/>
          </a:prstGeom>
          <a:solidFill>
            <a:srgbClr val="E6F7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77A03B6-76B1-492D-BB96-6D31CA11236D}"/>
              </a:ext>
            </a:extLst>
          </p:cNvPr>
          <p:cNvSpPr>
            <a:spLocks noGrp="1"/>
          </p:cNvSpPr>
          <p:nvPr/>
        </p:nvSpPr>
        <p:spPr>
          <a:xfrm>
            <a:off x="7620000" y="3124200"/>
            <a:ext cx="2095500" cy="304800"/>
          </a:xfrm>
          <a:prstGeom prst="rightArrow">
            <a:avLst/>
          </a:prstGeom>
          <a:solidFill>
            <a:srgbClr val="E6F7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C0D7E986-0971-4F5E-81AA-95025DBB3CB5}"/>
              </a:ext>
            </a:extLst>
          </p:cNvPr>
          <p:cNvSpPr>
            <a:spLocks noGrp="1"/>
          </p:cNvSpPr>
          <p:nvPr/>
        </p:nvSpPr>
        <p:spPr>
          <a:xfrm>
            <a:off x="5791200" y="4095750"/>
            <a:ext cx="400050" cy="876300"/>
          </a:xfrm>
          <a:prstGeom prst="downArrow">
            <a:avLst/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AD7D48-7765-4DE3-8526-53D4EB7FEC97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2381250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C68BE4-D08A-4840-92D7-C9AAD892BB65}"/>
              </a:ext>
            </a:extLst>
          </p:cNvPr>
          <p:cNvSpPr>
            <a:spLocks noGrp="1"/>
          </p:cNvSpPr>
          <p:nvPr/>
        </p:nvSpPr>
        <p:spPr>
          <a:xfrm>
            <a:off x="914400" y="18478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0A6B2"/>
                </a:solidFill>
              </a:defRPr>
            </a:pPr>
            <a:r>
              <a:rPr sz="1200" b="1">
                <a:solidFill>
                  <a:srgbClr val="00A6B2"/>
                </a:solidFill>
              </a:rPr>
              <a:t>ROOM SENSORS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CA775E-657D-4F82-8548-89EF662FAE4E}"/>
              </a:ext>
            </a:extLst>
          </p:cNvPr>
          <p:cNvSpPr>
            <a:spLocks noGrp="1"/>
          </p:cNvSpPr>
          <p:nvPr/>
        </p:nvSpPr>
        <p:spPr>
          <a:xfrm>
            <a:off x="914400" y="2190750"/>
            <a:ext cx="200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B1728"/>
                </a:solidFill>
              </a:defRPr>
            </a:pPr>
            <a:r>
              <a:rPr sz="1425" b="1">
                <a:solidFill>
                  <a:srgbClr val="0B1728"/>
                </a:solidFill>
              </a:rPr>
              <a:t>SCD41 · I²C4</a:t>
            </a:r>
          </a:p>
          <a:p>
            <a:pPr algn="l">
              <a:defRPr sz="1425" b="1">
                <a:solidFill>
                  <a:srgbClr val="0B1728"/>
                </a:solidFill>
              </a:defRPr>
            </a:pPr>
            <a:r>
              <a:rPr sz="1425" b="1">
                <a:solidFill>
                  <a:srgbClr val="0B1728"/>
                </a:solidFill>
              </a:rPr>
              <a:t>BME688 · I²C3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E021201-7429-4EAA-9D9D-7CCC3216BCDF}"/>
              </a:ext>
            </a:extLst>
          </p:cNvPr>
          <p:cNvSpPr>
            <a:spLocks noGrp="1"/>
          </p:cNvSpPr>
          <p:nvPr/>
        </p:nvSpPr>
        <p:spPr>
          <a:xfrm>
            <a:off x="723900" y="2895600"/>
            <a:ext cx="2381250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FFD0F5-DA9E-44E9-954D-1FA6DDC32E9B}"/>
              </a:ext>
            </a:extLst>
          </p:cNvPr>
          <p:cNvSpPr>
            <a:spLocks noGrp="1"/>
          </p:cNvSpPr>
          <p:nvPr/>
        </p:nvSpPr>
        <p:spPr>
          <a:xfrm>
            <a:off x="914400" y="30289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D94F5C"/>
                </a:solidFill>
              </a:defRPr>
            </a:pPr>
            <a:r>
              <a:rPr sz="1200" b="1">
                <a:solidFill>
                  <a:srgbClr val="D94F5C"/>
                </a:solidFill>
              </a:rPr>
              <a:t>SAFETY INPUTS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6F79E1-3039-496A-9A8E-3009C80DD529}"/>
              </a:ext>
            </a:extLst>
          </p:cNvPr>
          <p:cNvSpPr>
            <a:spLocks noGrp="1"/>
          </p:cNvSpPr>
          <p:nvPr/>
        </p:nvSpPr>
        <p:spPr>
          <a:xfrm>
            <a:off x="914400" y="3352800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Flame ADC + comparator</a:t>
            </a:r>
          </a:p>
          <a:p>
            <a:pPr algn="l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MOSFET buzzer output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0EC00DC-5639-4050-80AB-17C6043F3A47}"/>
              </a:ext>
            </a:extLst>
          </p:cNvPr>
          <p:cNvSpPr>
            <a:spLocks noGrp="1"/>
          </p:cNvSpPr>
          <p:nvPr/>
        </p:nvSpPr>
        <p:spPr>
          <a:xfrm>
            <a:off x="4248150" y="1733550"/>
            <a:ext cx="3714750" cy="2228850"/>
          </a:xfrm>
          <a:prstGeom prst="roundRect">
            <a:avLst>
              <a:gd name="adj" fmla="val 3419"/>
            </a:avLst>
          </a:prstGeom>
          <a:solidFill>
            <a:srgbClr val="10263F"/>
          </a:solidFill>
          <a:ln w="0">
            <a:solidFill>
              <a:srgbClr val="102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6C499C-3EDD-4D15-92E2-7D4B894CF68D}"/>
              </a:ext>
            </a:extLst>
          </p:cNvPr>
          <p:cNvSpPr>
            <a:spLocks noGrp="1"/>
          </p:cNvSpPr>
          <p:nvPr/>
        </p:nvSpPr>
        <p:spPr>
          <a:xfrm>
            <a:off x="4533900" y="2057400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STM32F746BGT6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577F7B-3311-4EA5-A173-05C83CF9F0C8}"/>
              </a:ext>
            </a:extLst>
          </p:cNvPr>
          <p:cNvSpPr>
            <a:spLocks noGrp="1"/>
          </p:cNvSpPr>
          <p:nvPr/>
        </p:nvSpPr>
        <p:spPr>
          <a:xfrm>
            <a:off x="4533900" y="25908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55D9E6"/>
                </a:solidFill>
              </a:defRPr>
            </a:pPr>
            <a:r>
              <a:rPr sz="1350" b="1">
                <a:solidFill>
                  <a:srgbClr val="55D9E6"/>
                </a:solidFill>
              </a:rPr>
              <a:t>200 MHz Cortex-M7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0DAF4B-929A-4D4B-8D16-A2388A75F0A8}"/>
              </a:ext>
            </a:extLst>
          </p:cNvPr>
          <p:cNvSpPr>
            <a:spLocks noGrp="1"/>
          </p:cNvSpPr>
          <p:nvPr/>
        </p:nvSpPr>
        <p:spPr>
          <a:xfrm>
            <a:off x="4533900" y="31051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CFD9E5"/>
                </a:solidFill>
              </a:defRPr>
            </a:pPr>
            <a:r>
              <a:rPr sz="1275" b="1">
                <a:solidFill>
                  <a:srgbClr val="CFD9E5"/>
                </a:solidFill>
              </a:rPr>
              <a:t>LTDC · FMC · QSPI · ADC · UART · I²C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FEEFEC5-6495-4A35-9D31-908B0BD3EB9A}"/>
              </a:ext>
            </a:extLst>
          </p:cNvPr>
          <p:cNvSpPr>
            <a:spLocks noGrp="1"/>
          </p:cNvSpPr>
          <p:nvPr/>
        </p:nvSpPr>
        <p:spPr>
          <a:xfrm>
            <a:off x="9105900" y="1714500"/>
            <a:ext cx="2362200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C7FCC4-CF61-4E26-BED5-057FE843DCD4}"/>
              </a:ext>
            </a:extLst>
          </p:cNvPr>
          <p:cNvSpPr>
            <a:spLocks noGrp="1"/>
          </p:cNvSpPr>
          <p:nvPr/>
        </p:nvSpPr>
        <p:spPr>
          <a:xfrm>
            <a:off x="9296400" y="1847850"/>
            <a:ext cx="1981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46BFD"/>
                </a:solidFill>
              </a:defRPr>
            </a:pPr>
            <a:r>
              <a:rPr sz="1200" b="1">
                <a:solidFill>
                  <a:srgbClr val="246BFD"/>
                </a:solidFill>
              </a:rPr>
              <a:t>USER OUTPUT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72D787-FFDC-43CA-813B-4FA81054A7DC}"/>
              </a:ext>
            </a:extLst>
          </p:cNvPr>
          <p:cNvSpPr>
            <a:spLocks noGrp="1"/>
          </p:cNvSpPr>
          <p:nvPr/>
        </p:nvSpPr>
        <p:spPr>
          <a:xfrm>
            <a:off x="9296400" y="2190750"/>
            <a:ext cx="1981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480×272 RGB display</a:t>
            </a:r>
          </a:p>
          <a:p>
            <a:pPr algn="l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Backlight + buzzer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ACE1E72-8DF7-4A4F-BCF2-DDA44619608C}"/>
              </a:ext>
            </a:extLst>
          </p:cNvPr>
          <p:cNvSpPr>
            <a:spLocks noGrp="1"/>
          </p:cNvSpPr>
          <p:nvPr/>
        </p:nvSpPr>
        <p:spPr>
          <a:xfrm>
            <a:off x="9105900" y="2895600"/>
            <a:ext cx="2362200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87B4F4-4BDE-48E9-8B79-9EB774967203}"/>
              </a:ext>
            </a:extLst>
          </p:cNvPr>
          <p:cNvSpPr>
            <a:spLocks noGrp="1"/>
          </p:cNvSpPr>
          <p:nvPr/>
        </p:nvSpPr>
        <p:spPr>
          <a:xfrm>
            <a:off x="9296400" y="3028950"/>
            <a:ext cx="1981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8A66A"/>
                </a:solidFill>
              </a:defRPr>
            </a:pPr>
            <a:r>
              <a:rPr sz="1200" b="1">
                <a:solidFill>
                  <a:srgbClr val="28A66A"/>
                </a:solidFill>
              </a:rPr>
              <a:t>CONNECTIVITY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CFD61E-CE2F-415F-832C-DB3FB694318D}"/>
              </a:ext>
            </a:extLst>
          </p:cNvPr>
          <p:cNvSpPr>
            <a:spLocks noGrp="1"/>
          </p:cNvSpPr>
          <p:nvPr/>
        </p:nvSpPr>
        <p:spPr>
          <a:xfrm>
            <a:off x="9296400" y="3352800"/>
            <a:ext cx="1981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ESP-01 / USART1</a:t>
            </a:r>
          </a:p>
          <a:p>
            <a:pPr algn="l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MCP2221A / USART3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7EA4532-B43E-49A8-B5A3-D1B96F3FC9EE}"/>
              </a:ext>
            </a:extLst>
          </p:cNvPr>
          <p:cNvSpPr>
            <a:spLocks noGrp="1"/>
          </p:cNvSpPr>
          <p:nvPr/>
        </p:nvSpPr>
        <p:spPr>
          <a:xfrm>
            <a:off x="4191000" y="4914900"/>
            <a:ext cx="382905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28A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7251E7-5766-4B24-9A68-19B753A6B772}"/>
              </a:ext>
            </a:extLst>
          </p:cNvPr>
          <p:cNvSpPr>
            <a:spLocks noGrp="1"/>
          </p:cNvSpPr>
          <p:nvPr/>
        </p:nvSpPr>
        <p:spPr>
          <a:xfrm>
            <a:off x="4400550" y="5048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8A66A"/>
                </a:solidFill>
              </a:defRPr>
            </a:pPr>
            <a:r>
              <a:rPr sz="1200" b="1">
                <a:solidFill>
                  <a:srgbClr val="28A66A"/>
                </a:solidFill>
              </a:rPr>
              <a:t>EXTERNAL MEMORY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8FFF68-E68E-4F81-8C98-0565C4555516}"/>
              </a:ext>
            </a:extLst>
          </p:cNvPr>
          <p:cNvSpPr>
            <a:spLocks noGrp="1"/>
          </p:cNvSpPr>
          <p:nvPr/>
        </p:nvSpPr>
        <p:spPr>
          <a:xfrm>
            <a:off x="4400550" y="53721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W25Q128 QSPI 16 MB  ·  IS42S16400 SDRAM 8 MB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D1BC4F0-4F08-4E3D-9648-9D4D7E07DB3E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77879A"/>
                </a:solidFill>
              </a:defRPr>
            </a:pPr>
            <a:r>
              <a:rPr sz="825" b="1">
                <a:solidFill>
                  <a:srgbClr val="77879A"/>
                </a:solidFill>
              </a:rPr>
              <a:t>SMART HOME HUB · ADVANCED PCB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AF1449-0CCA-4CE3-89C8-D42873C2292A}"/>
              </a:ext>
            </a:extLst>
          </p:cNvPr>
          <p:cNvSpPr>
            <a:spLocks noGrp="1"/>
          </p:cNvSpPr>
          <p:nvPr/>
        </p:nvSpPr>
        <p:spPr>
          <a:xfrm>
            <a:off x="10668000" y="651510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77879A"/>
                </a:solidFill>
              </a:defRPr>
            </a:pPr>
            <a:r>
              <a:rPr sz="825" b="1">
                <a:solidFill>
                  <a:srgbClr val="77879A"/>
                </a:solidFill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1620512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BC28FB5-AE18-44EE-A9E1-8DCC52BA130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A6B2"/>
                </a:solidFill>
              </a:defRPr>
            </a:pPr>
            <a:r>
              <a:rPr sz="975" b="1">
                <a:solidFill>
                  <a:srgbClr val="00A6B2"/>
                </a:solidFill>
              </a:rPr>
              <a:t>HARDWARE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21EAB1-15EA-4D5B-8AEA-6D43C869B972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0B1728"/>
                </a:solidFill>
              </a:defRPr>
            </a:pPr>
            <a:r>
              <a:rPr sz="3000" b="1">
                <a:solidFill>
                  <a:srgbClr val="0B1728"/>
                </a:solidFill>
              </a:rPr>
              <a:t>Power integrity and defined startup states are built 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391ABA-C282-49B7-8CE7-D4C203EDB346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D6E0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10FE8C-8C20-4177-B197-CF42D0C170EC}"/>
              </a:ext>
            </a:extLst>
          </p:cNvPr>
          <p:cNvSpPr>
            <a:spLocks noGrp="1"/>
          </p:cNvSpPr>
          <p:nvPr/>
        </p:nvSpPr>
        <p:spPr>
          <a:xfrm>
            <a:off x="11144250" y="2857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D6B7E"/>
                </a:solidFill>
              </a:defRPr>
            </a:pPr>
            <a:r>
              <a:rPr sz="975" b="1">
                <a:solidFill>
                  <a:srgbClr val="5D6B7E"/>
                </a:solidFill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212CDC-5DA2-427F-A80C-E461CDD7FCD9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5D6B7E"/>
                </a:solidFill>
              </a:defRPr>
            </a:pPr>
            <a:r>
              <a:rPr sz="1650" b="0">
                <a:solidFill>
                  <a:srgbClr val="5D6B7E"/>
                </a:solidFill>
              </a:rPr>
              <a:t>The most important reliability choices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BB7E7C-69B9-42C8-9EEE-92E68DE89003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76200" cy="76200"/>
          </a:xfrm>
          <a:prstGeom prst="rect">
            <a:avLst/>
          </a:prstGeom>
          <a:solidFill>
            <a:srgbClr val="246BF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D2104E-FDD1-49AE-B172-A307B0FF5590}"/>
              </a:ext>
            </a:extLst>
          </p:cNvPr>
          <p:cNvSpPr>
            <a:spLocks noGrp="1"/>
          </p:cNvSpPr>
          <p:nvPr/>
        </p:nvSpPr>
        <p:spPr>
          <a:xfrm>
            <a:off x="819150" y="1981200"/>
            <a:ext cx="4838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0B1728"/>
                </a:solidFill>
              </a:defRPr>
            </a:pPr>
            <a:r>
              <a:rPr sz="1650" b="0">
                <a:solidFill>
                  <a:srgbClr val="0B1728"/>
                </a:solidFill>
              </a:rPr>
              <a:t>USB-C 5 V input with fuse and TVS protection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A48D9F-7B24-4809-B98F-0EE86F627DB6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76200" cy="76200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6B91E1-D19F-4E70-9410-74F978AE385D}"/>
              </a:ext>
            </a:extLst>
          </p:cNvPr>
          <p:cNvSpPr>
            <a:spLocks noGrp="1"/>
          </p:cNvSpPr>
          <p:nvPr/>
        </p:nvSpPr>
        <p:spPr>
          <a:xfrm>
            <a:off x="819150" y="2628900"/>
            <a:ext cx="4838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0B1728"/>
                </a:solidFill>
              </a:defRPr>
            </a:pPr>
            <a:r>
              <a:rPr sz="1650" b="0">
                <a:solidFill>
                  <a:srgbClr val="0B1728"/>
                </a:solidFill>
              </a:rPr>
              <a:t>AP63203 3.3 V buck for MCU, sensors and logic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BB7967-F78D-45FB-906F-818887E82AE8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76200" cy="76200"/>
          </a:xfrm>
          <a:prstGeom prst="rect">
            <a:avLst/>
          </a:prstGeom>
          <a:solidFill>
            <a:srgbClr val="28A66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3F6CBB-6151-46D5-8F76-F419920B9E61}"/>
              </a:ext>
            </a:extLst>
          </p:cNvPr>
          <p:cNvSpPr>
            <a:spLocks noGrp="1"/>
          </p:cNvSpPr>
          <p:nvPr/>
        </p:nvSpPr>
        <p:spPr>
          <a:xfrm>
            <a:off x="819150" y="3276600"/>
            <a:ext cx="4838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0B1728"/>
                </a:solidFill>
              </a:defRPr>
            </a:pPr>
            <a:r>
              <a:rPr sz="1650" b="0">
                <a:solidFill>
                  <a:srgbClr val="0B1728"/>
                </a:solidFill>
              </a:rPr>
              <a:t>Ferrite-filtered VDDA / VREF+ with local decoupling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9CD74A-38A0-45AC-9FA3-401F4E473744}"/>
              </a:ext>
            </a:extLst>
          </p:cNvPr>
          <p:cNvSpPr>
            <a:spLocks noGrp="1"/>
          </p:cNvSpPr>
          <p:nvPr/>
        </p:nvSpPr>
        <p:spPr>
          <a:xfrm>
            <a:off x="609600" y="4019550"/>
            <a:ext cx="76200" cy="76200"/>
          </a:xfrm>
          <a:prstGeom prst="rect">
            <a:avLst/>
          </a:prstGeom>
          <a:solidFill>
            <a:srgbClr val="F2B6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9DC034-859F-4A91-822B-BCD0ED267CD1}"/>
              </a:ext>
            </a:extLst>
          </p:cNvPr>
          <p:cNvSpPr>
            <a:spLocks noGrp="1"/>
          </p:cNvSpPr>
          <p:nvPr/>
        </p:nvSpPr>
        <p:spPr>
          <a:xfrm>
            <a:off x="819150" y="3924300"/>
            <a:ext cx="4838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0B1728"/>
                </a:solidFill>
              </a:defRPr>
            </a:pPr>
            <a:r>
              <a:rPr sz="1650" b="0">
                <a:solidFill>
                  <a:srgbClr val="0B1728"/>
                </a:solidFill>
              </a:rPr>
              <a:t>TPS61165 constant-current display backlight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592F97-6FB7-4085-80D9-CE9068DF1698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76200" cy="76200"/>
          </a:xfrm>
          <a:prstGeom prst="rect">
            <a:avLst/>
          </a:prstGeom>
          <a:solidFill>
            <a:srgbClr val="D94F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A1B655-E2C8-4853-864E-98F599C14E0B}"/>
              </a:ext>
            </a:extLst>
          </p:cNvPr>
          <p:cNvSpPr>
            <a:spLocks noGrp="1"/>
          </p:cNvSpPr>
          <p:nvPr/>
        </p:nvSpPr>
        <p:spPr>
          <a:xfrm>
            <a:off x="819150" y="4572000"/>
            <a:ext cx="4838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0B1728"/>
                </a:solidFill>
              </a:defRPr>
            </a:pPr>
            <a:r>
              <a:rPr sz="1650" b="0">
                <a:solidFill>
                  <a:srgbClr val="0B1728"/>
                </a:solidFill>
              </a:rPr>
              <a:t>Gate pull-down keeps the buzzer silent during reset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BB165A9-4B98-401E-AD44-968141BFDE15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5067300" cy="590550"/>
          </a:xfrm>
          <a:prstGeom prst="roundRect">
            <a:avLst>
              <a:gd name="adj" fmla="val 12903"/>
            </a:avLst>
          </a:prstGeom>
          <a:solidFill>
            <a:srgbClr val="E6F7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DA8014-84A2-4891-BF31-C1963915B590}"/>
              </a:ext>
            </a:extLst>
          </p:cNvPr>
          <p:cNvSpPr>
            <a:spLocks noGrp="1"/>
          </p:cNvSpPr>
          <p:nvPr/>
        </p:nvSpPr>
        <p:spPr>
          <a:xfrm>
            <a:off x="800100" y="5467350"/>
            <a:ext cx="4686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0263F"/>
                </a:solidFill>
              </a:defRPr>
            </a:pPr>
            <a:r>
              <a:rPr sz="1350" b="1">
                <a:solidFill>
                  <a:srgbClr val="10263F"/>
                </a:solidFill>
              </a:rPr>
              <a:t>Hardware defaults remain safe before firmware starts.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rcRect t="18218" b="18218"/>
          <a:stretch>
            <a:fillRect/>
          </a:stretch>
        </p:blipFill>
        <p:spPr>
          <a:xfrm>
            <a:off x="6210300" y="1428750"/>
            <a:ext cx="5372100" cy="4552950"/>
          </a:xfrm>
          <a:prstGeom prst="roundRect">
            <a:avLst>
              <a:gd name="adj" fmla="val 2510"/>
            </a:avLst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1B9CA31-8C28-4E6E-A14F-2D13534B9C97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77879A"/>
                </a:solidFill>
              </a:defRPr>
            </a:pPr>
            <a:r>
              <a:rPr sz="825" b="1">
                <a:solidFill>
                  <a:srgbClr val="77879A"/>
                </a:solidFill>
              </a:rPr>
              <a:t>SMART HOME HUB · ADVANCED PCB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2AF0E3-A8A8-46EE-9087-F972A331C870}"/>
              </a:ext>
            </a:extLst>
          </p:cNvPr>
          <p:cNvSpPr>
            <a:spLocks noGrp="1"/>
          </p:cNvSpPr>
          <p:nvPr/>
        </p:nvSpPr>
        <p:spPr>
          <a:xfrm>
            <a:off x="10668000" y="651510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77879A"/>
                </a:solidFill>
              </a:defRPr>
            </a:pPr>
            <a:r>
              <a:rPr sz="825" b="1">
                <a:solidFill>
                  <a:srgbClr val="77879A"/>
                </a:solidFill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275154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AF233F5-67D4-46F6-BE12-3B454C72F02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A6B2"/>
                </a:solidFill>
              </a:defRPr>
            </a:pPr>
            <a:r>
              <a:rPr sz="975" b="1">
                <a:solidFill>
                  <a:srgbClr val="00A6B2"/>
                </a:solidFill>
              </a:rPr>
              <a:t>PCB IMPLEMENTATION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54C97A-32D2-4F9C-98F9-93A84ACD285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0B1728"/>
                </a:solidFill>
              </a:defRPr>
            </a:pPr>
            <a:r>
              <a:rPr sz="3000" b="1">
                <a:solidFill>
                  <a:srgbClr val="0B1728"/>
                </a:solidFill>
              </a:rPr>
              <a:t>The four-layer stack provides continuous return paths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4DEE04-F187-4B07-8E4B-DC51CAA69A1B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D6E0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E1BE12-8C06-41D5-B4DA-BF4172A14A88}"/>
              </a:ext>
            </a:extLst>
          </p:cNvPr>
          <p:cNvSpPr>
            <a:spLocks noGrp="1"/>
          </p:cNvSpPr>
          <p:nvPr/>
        </p:nvSpPr>
        <p:spPr>
          <a:xfrm>
            <a:off x="11144250" y="2857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D6B7E"/>
                </a:solidFill>
              </a:defRPr>
            </a:pPr>
            <a:r>
              <a:rPr sz="975" b="1">
                <a:solidFill>
                  <a:srgbClr val="5D6B7E"/>
                </a:solidFill>
              </a:rPr>
              <a:t>05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7" b="2547"/>
          <a:stretch/>
        </p:blipFill>
        <p:spPr>
          <a:xfrm>
            <a:off x="609600" y="1447800"/>
            <a:ext cx="6781800" cy="3448050"/>
          </a:xfrm>
          <a:prstGeom prst="roundRect">
            <a:avLst>
              <a:gd name="adj" fmla="val 3315"/>
            </a:avLst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rcRect l="7320" r="7320"/>
          <a:stretch>
            <a:fillRect/>
          </a:stretch>
        </p:blipFill>
        <p:spPr>
          <a:xfrm>
            <a:off x="7658100" y="1447800"/>
            <a:ext cx="3924300" cy="3448050"/>
          </a:xfrm>
          <a:prstGeom prst="roundRect">
            <a:avLst>
              <a:gd name="adj" fmla="val 3315"/>
            </a:avLst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22AB734-C939-4CB8-ACD3-E53350909953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2533650" cy="76200"/>
          </a:xfrm>
          <a:prstGeom prst="rect">
            <a:avLst/>
          </a:prstGeom>
          <a:solidFill>
            <a:srgbClr val="D94F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B52BA9-1A19-419D-9522-E38FC6A13974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B1728"/>
                </a:solidFill>
              </a:defRPr>
            </a:pPr>
            <a:r>
              <a:rPr sz="1125" b="1">
                <a:solidFill>
                  <a:srgbClr val="0B1728"/>
                </a:solidFill>
              </a:rPr>
              <a:t>TOP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3731EB-6ADE-40DC-9AA8-85185101015F}"/>
              </a:ext>
            </a:extLst>
          </p:cNvPr>
          <p:cNvSpPr>
            <a:spLocks noGrp="1"/>
          </p:cNvSpPr>
          <p:nvPr/>
        </p:nvSpPr>
        <p:spPr>
          <a:xfrm>
            <a:off x="1466850" y="539115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125" b="1">
                <a:solidFill>
                  <a:srgbClr val="5D6B7E"/>
                </a:solidFill>
              </a:defRPr>
            </a:pPr>
            <a:r>
              <a:rPr sz="1125" b="1">
                <a:solidFill>
                  <a:srgbClr val="5D6B7E"/>
                </a:solidFill>
              </a:rPr>
              <a:t>SIGNAL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F84F2D-E50F-4C7D-B0C9-33A1B3818452}"/>
              </a:ext>
            </a:extLst>
          </p:cNvPr>
          <p:cNvSpPr>
            <a:spLocks noGrp="1"/>
          </p:cNvSpPr>
          <p:nvPr/>
        </p:nvSpPr>
        <p:spPr>
          <a:xfrm>
            <a:off x="3352800" y="5219700"/>
            <a:ext cx="2533650" cy="76200"/>
          </a:xfrm>
          <a:prstGeom prst="rect">
            <a:avLst/>
          </a:prstGeom>
          <a:solidFill>
            <a:srgbClr val="1026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5885D9-F261-4C5D-9BFF-F15A1C7E2167}"/>
              </a:ext>
            </a:extLst>
          </p:cNvPr>
          <p:cNvSpPr>
            <a:spLocks noGrp="1"/>
          </p:cNvSpPr>
          <p:nvPr/>
        </p:nvSpPr>
        <p:spPr>
          <a:xfrm>
            <a:off x="3352800" y="5391150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B1728"/>
                </a:solidFill>
              </a:defRPr>
            </a:pPr>
            <a:r>
              <a:rPr sz="1125" b="1">
                <a:solidFill>
                  <a:srgbClr val="0B1728"/>
                </a:solidFill>
              </a:rPr>
              <a:t>L1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1D8E0D-5C06-4AC1-81AB-245E8F5E1539}"/>
              </a:ext>
            </a:extLst>
          </p:cNvPr>
          <p:cNvSpPr>
            <a:spLocks noGrp="1"/>
          </p:cNvSpPr>
          <p:nvPr/>
        </p:nvSpPr>
        <p:spPr>
          <a:xfrm>
            <a:off x="4210050" y="539115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125" b="1">
                <a:solidFill>
                  <a:srgbClr val="5D6B7E"/>
                </a:solidFill>
              </a:defRPr>
            </a:pPr>
            <a:r>
              <a:rPr sz="1125" b="1">
                <a:solidFill>
                  <a:srgbClr val="5D6B7E"/>
                </a:solidFill>
              </a:rPr>
              <a:t>GND PLANE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9BDFF1-0B81-471C-BCFB-2FAE62F51E33}"/>
              </a:ext>
            </a:extLst>
          </p:cNvPr>
          <p:cNvSpPr>
            <a:spLocks noGrp="1"/>
          </p:cNvSpPr>
          <p:nvPr/>
        </p:nvSpPr>
        <p:spPr>
          <a:xfrm>
            <a:off x="6096000" y="5219700"/>
            <a:ext cx="2533650" cy="76200"/>
          </a:xfrm>
          <a:prstGeom prst="rect">
            <a:avLst/>
          </a:prstGeom>
          <a:solidFill>
            <a:srgbClr val="28A66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2BDABE-128C-4E9D-971D-710CCB262F4A}"/>
              </a:ext>
            </a:extLst>
          </p:cNvPr>
          <p:cNvSpPr>
            <a:spLocks noGrp="1"/>
          </p:cNvSpPr>
          <p:nvPr/>
        </p:nvSpPr>
        <p:spPr>
          <a:xfrm>
            <a:off x="6096000" y="5391150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B1728"/>
                </a:solidFill>
              </a:defRPr>
            </a:pPr>
            <a:r>
              <a:rPr sz="1125" b="1">
                <a:solidFill>
                  <a:srgbClr val="0B1728"/>
                </a:solidFill>
              </a:rPr>
              <a:t>L2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5E9F36-312C-4CE9-906D-9F49A9AFA15A}"/>
              </a:ext>
            </a:extLst>
          </p:cNvPr>
          <p:cNvSpPr>
            <a:spLocks noGrp="1"/>
          </p:cNvSpPr>
          <p:nvPr/>
        </p:nvSpPr>
        <p:spPr>
          <a:xfrm>
            <a:off x="6953250" y="539115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125" b="1">
                <a:solidFill>
                  <a:srgbClr val="5D6B7E"/>
                </a:solidFill>
              </a:defRPr>
            </a:pPr>
            <a:r>
              <a:rPr sz="1125" b="1">
                <a:solidFill>
                  <a:srgbClr val="5D6B7E"/>
                </a:solidFill>
              </a:rPr>
              <a:t>3V3 PLANE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91076E-2B9D-495C-8420-A786B7E77AFD}"/>
              </a:ext>
            </a:extLst>
          </p:cNvPr>
          <p:cNvSpPr>
            <a:spLocks noGrp="1"/>
          </p:cNvSpPr>
          <p:nvPr/>
        </p:nvSpPr>
        <p:spPr>
          <a:xfrm>
            <a:off x="8839200" y="5219700"/>
            <a:ext cx="2533650" cy="76200"/>
          </a:xfrm>
          <a:prstGeom prst="rect">
            <a:avLst/>
          </a:prstGeom>
          <a:solidFill>
            <a:srgbClr val="246BF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DCB374-DFD6-4B1A-8BEB-02BDE015BC3F}"/>
              </a:ext>
            </a:extLst>
          </p:cNvPr>
          <p:cNvSpPr>
            <a:spLocks noGrp="1"/>
          </p:cNvSpPr>
          <p:nvPr/>
        </p:nvSpPr>
        <p:spPr>
          <a:xfrm>
            <a:off x="8839200" y="5391150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B1728"/>
                </a:solidFill>
              </a:defRPr>
            </a:pPr>
            <a:r>
              <a:rPr sz="1125" b="1">
                <a:solidFill>
                  <a:srgbClr val="0B1728"/>
                </a:solidFill>
              </a:rPr>
              <a:t>BOTTOM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B83371-0ACE-47AB-A468-9213EA6C5E45}"/>
              </a:ext>
            </a:extLst>
          </p:cNvPr>
          <p:cNvSpPr>
            <a:spLocks noGrp="1"/>
          </p:cNvSpPr>
          <p:nvPr/>
        </p:nvSpPr>
        <p:spPr>
          <a:xfrm>
            <a:off x="9696450" y="5391150"/>
            <a:ext cx="1676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125" b="1">
                <a:solidFill>
                  <a:srgbClr val="5D6B7E"/>
                </a:solidFill>
              </a:defRPr>
            </a:pPr>
            <a:r>
              <a:rPr sz="1125" b="1">
                <a:solidFill>
                  <a:srgbClr val="5D6B7E"/>
                </a:solidFill>
              </a:rPr>
              <a:t>SIGNAL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A5BE2D-65CC-4A4F-B002-22C1E6E421A6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2B3E55"/>
                </a:solidFill>
              </a:defRPr>
            </a:pPr>
            <a:r>
              <a:rPr sz="1275" b="0">
                <a:solidFill>
                  <a:srgbClr val="2B3E55"/>
                </a:solidFill>
              </a:rPr>
              <a:t>Dense MCU/display escape routing stays referenced to the internal GND plane; switch-mode loops are kept away from sensor and analog sections.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F8BED2-4A42-4B68-99BB-58634EC801A0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77879A"/>
                </a:solidFill>
              </a:defRPr>
            </a:pPr>
            <a:r>
              <a:rPr sz="825" b="1">
                <a:solidFill>
                  <a:srgbClr val="77879A"/>
                </a:solidFill>
              </a:rPr>
              <a:t>SMART HOME HUB · ADVANCED PCB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99C345-6C77-49AF-B5ED-552A6BC34E65}"/>
              </a:ext>
            </a:extLst>
          </p:cNvPr>
          <p:cNvSpPr>
            <a:spLocks noGrp="1"/>
          </p:cNvSpPr>
          <p:nvPr/>
        </p:nvSpPr>
        <p:spPr>
          <a:xfrm>
            <a:off x="10668000" y="651510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77879A"/>
                </a:solidFill>
              </a:defRPr>
            </a:pPr>
            <a:r>
              <a:rPr sz="825" b="1">
                <a:solidFill>
                  <a:srgbClr val="77879A"/>
                </a:solidFill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251461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C88B44EB-3787-4CD2-9295-7417A98DD17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A6B2"/>
                </a:solidFill>
              </a:defRPr>
            </a:pPr>
            <a:r>
              <a:rPr sz="975" b="1">
                <a:solidFill>
                  <a:srgbClr val="00A6B2"/>
                </a:solidFill>
              </a:rPr>
              <a:t>MEMORY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62BEDF-EF2A-4ED6-845F-F5D66EAA684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0B1728"/>
                </a:solidFill>
              </a:defRPr>
            </a:pPr>
            <a:r>
              <a:rPr sz="3000" b="1">
                <a:solidFill>
                  <a:srgbClr val="0B1728"/>
                </a:solidFill>
              </a:rPr>
              <a:t>Each memory is used for the task it performs best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BF29D7-30CC-4464-90A5-3D063071ECBE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D6E0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F3B490-57E5-4228-A0EA-43A29804F4A3}"/>
              </a:ext>
            </a:extLst>
          </p:cNvPr>
          <p:cNvSpPr>
            <a:spLocks noGrp="1"/>
          </p:cNvSpPr>
          <p:nvPr/>
        </p:nvSpPr>
        <p:spPr>
          <a:xfrm>
            <a:off x="11144250" y="2857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D6B7E"/>
                </a:solidFill>
              </a:defRPr>
            </a:pPr>
            <a:r>
              <a:rPr sz="975" b="1">
                <a:solidFill>
                  <a:srgbClr val="5D6B7E"/>
                </a:solidFill>
              </a:rPr>
              <a:t>06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511011"/>
            <a:ext cx="5924550" cy="2692977"/>
          </a:xfrm>
          <a:prstGeom prst="roundRect">
            <a:avLst>
              <a:gd name="adj" fmla="val 4110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E87B77B-FB6A-4DE3-BF06-5A6D106A5F07}"/>
              </a:ext>
            </a:extLst>
          </p:cNvPr>
          <p:cNvSpPr>
            <a:spLocks noGrp="1"/>
          </p:cNvSpPr>
          <p:nvPr/>
        </p:nvSpPr>
        <p:spPr>
          <a:xfrm>
            <a:off x="6953250" y="1581150"/>
            <a:ext cx="209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246BFD"/>
                </a:solidFill>
              </a:defRPr>
            </a:pPr>
            <a:r>
              <a:rPr sz="3150" b="1">
                <a:solidFill>
                  <a:srgbClr val="246BFD"/>
                </a:solidFill>
              </a:rPr>
              <a:t>16 MB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867B0F-A3DA-4A29-BDCA-E9FBF2C4A4D7}"/>
              </a:ext>
            </a:extLst>
          </p:cNvPr>
          <p:cNvSpPr>
            <a:spLocks noGrp="1"/>
          </p:cNvSpPr>
          <p:nvPr/>
        </p:nvSpPr>
        <p:spPr>
          <a:xfrm>
            <a:off x="6953250" y="21717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5D6B7E"/>
                </a:solidFill>
              </a:defRPr>
            </a:pPr>
            <a:r>
              <a:rPr sz="1050" b="1">
                <a:solidFill>
                  <a:srgbClr val="5D6B7E"/>
                </a:solidFill>
              </a:rPr>
              <a:t>W25Q128 PERSISTENT ASSET STORE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859A23-06BC-4C15-907A-A19B145FA3AE}"/>
              </a:ext>
            </a:extLst>
          </p:cNvPr>
          <p:cNvSpPr>
            <a:spLocks noGrp="1"/>
          </p:cNvSpPr>
          <p:nvPr/>
        </p:nvSpPr>
        <p:spPr>
          <a:xfrm>
            <a:off x="6953250" y="24574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B1728"/>
                </a:solidFill>
              </a:defRPr>
            </a:pPr>
            <a:r>
              <a:rPr sz="1425" b="1">
                <a:solidFill>
                  <a:srgbClr val="0B1728"/>
                </a:solidFill>
              </a:rPr>
              <a:t>Backgrounds · fonts · icons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1709D4-E245-426A-BA49-17E3E923C621}"/>
              </a:ext>
            </a:extLst>
          </p:cNvPr>
          <p:cNvSpPr>
            <a:spLocks noGrp="1"/>
          </p:cNvSpPr>
          <p:nvPr/>
        </p:nvSpPr>
        <p:spPr>
          <a:xfrm>
            <a:off x="6953250" y="3143250"/>
            <a:ext cx="209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28A66A"/>
                </a:solidFill>
              </a:defRPr>
            </a:pPr>
            <a:r>
              <a:rPr sz="3150" b="1">
                <a:solidFill>
                  <a:srgbClr val="28A66A"/>
                </a:solidFill>
              </a:rPr>
              <a:t>8 MB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576C5F-5599-4D92-B00D-2AC741D074A0}"/>
              </a:ext>
            </a:extLst>
          </p:cNvPr>
          <p:cNvSpPr>
            <a:spLocks noGrp="1"/>
          </p:cNvSpPr>
          <p:nvPr/>
        </p:nvSpPr>
        <p:spPr>
          <a:xfrm>
            <a:off x="6953250" y="37338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5D6B7E"/>
                </a:solidFill>
              </a:defRPr>
            </a:pPr>
            <a:r>
              <a:rPr sz="1050" b="1">
                <a:solidFill>
                  <a:srgbClr val="5D6B7E"/>
                </a:solidFill>
              </a:rPr>
              <a:t>IS42S16400 WORKING AND FRAME MEMORY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56E1B0-B707-421C-ABFA-C0F00207C206}"/>
              </a:ext>
            </a:extLst>
          </p:cNvPr>
          <p:cNvSpPr>
            <a:spLocks noGrp="1"/>
          </p:cNvSpPr>
          <p:nvPr/>
        </p:nvSpPr>
        <p:spPr>
          <a:xfrm>
            <a:off x="6953250" y="40195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B1728"/>
                </a:solidFill>
              </a:defRPr>
            </a:pPr>
            <a:r>
              <a:rPr sz="1425" b="1">
                <a:solidFill>
                  <a:srgbClr val="0B1728"/>
                </a:solidFill>
              </a:rPr>
              <a:t>Two GUI buffers · full-capacity PASS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49AD819-71E0-41B9-BB18-4EB8C187AC50}"/>
              </a:ext>
            </a:extLst>
          </p:cNvPr>
          <p:cNvSpPr>
            <a:spLocks noGrp="1"/>
          </p:cNvSpPr>
          <p:nvPr/>
        </p:nvSpPr>
        <p:spPr>
          <a:xfrm>
            <a:off x="2076450" y="5143500"/>
            <a:ext cx="1257300" cy="285750"/>
          </a:xfrm>
          <a:prstGeom prst="rightArrow">
            <a:avLst/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E506EB7-33ED-417E-9971-371108581626}"/>
              </a:ext>
            </a:extLst>
          </p:cNvPr>
          <p:cNvSpPr>
            <a:spLocks noGrp="1"/>
          </p:cNvSpPr>
          <p:nvPr/>
        </p:nvSpPr>
        <p:spPr>
          <a:xfrm>
            <a:off x="4914900" y="5143500"/>
            <a:ext cx="1257300" cy="285750"/>
          </a:xfrm>
          <a:prstGeom prst="rightArrow">
            <a:avLst/>
          </a:prstGeom>
          <a:solidFill>
            <a:srgbClr val="E6F7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0BFA914-E664-412A-B4AF-2429F6C0BF6C}"/>
              </a:ext>
            </a:extLst>
          </p:cNvPr>
          <p:cNvSpPr>
            <a:spLocks noGrp="1"/>
          </p:cNvSpPr>
          <p:nvPr/>
        </p:nvSpPr>
        <p:spPr>
          <a:xfrm>
            <a:off x="7753350" y="5143500"/>
            <a:ext cx="1257300" cy="285750"/>
          </a:xfrm>
          <a:prstGeom prst="rightArrow">
            <a:avLst/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0A7C17E-3888-46F5-A3C4-B0F919D73A14}"/>
              </a:ext>
            </a:extLst>
          </p:cNvPr>
          <p:cNvSpPr>
            <a:spLocks noGrp="1"/>
          </p:cNvSpPr>
          <p:nvPr/>
        </p:nvSpPr>
        <p:spPr>
          <a:xfrm>
            <a:off x="609600" y="4819650"/>
            <a:ext cx="1790700" cy="933450"/>
          </a:xfrm>
          <a:prstGeom prst="roundRect">
            <a:avLst>
              <a:gd name="adj" fmla="val 8163"/>
            </a:avLst>
          </a:prstGeom>
          <a:solidFill>
            <a:srgbClr val="EAF1FF"/>
          </a:solidFill>
          <a:ln w="9525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D720B9-77FF-4E1E-B6FC-8933B7C82AAF}"/>
              </a:ext>
            </a:extLst>
          </p:cNvPr>
          <p:cNvSpPr>
            <a:spLocks noGrp="1"/>
          </p:cNvSpPr>
          <p:nvPr/>
        </p:nvSpPr>
        <p:spPr>
          <a:xfrm>
            <a:off x="723900" y="4914900"/>
            <a:ext cx="1562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B1728"/>
                </a:solidFill>
              </a:defRPr>
            </a:pPr>
            <a:r>
              <a:rPr sz="1275" b="1">
                <a:solidFill>
                  <a:srgbClr val="0B1728"/>
                </a:solidFill>
              </a:rPr>
              <a:t>QSPI</a:t>
            </a:r>
          </a:p>
          <a:p>
            <a:pPr algn="ctr">
              <a:defRPr sz="1275" b="1">
                <a:solidFill>
                  <a:srgbClr val="0B1728"/>
                </a:solidFill>
              </a:defRPr>
            </a:pPr>
            <a:r>
              <a:rPr sz="1275" b="1">
                <a:solidFill>
                  <a:srgbClr val="0B1728"/>
                </a:solidFill>
              </a:rPr>
              <a:t>ASSETS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F0C27B1-1F38-49CF-9848-4AF6FCBBBAD4}"/>
              </a:ext>
            </a:extLst>
          </p:cNvPr>
          <p:cNvSpPr>
            <a:spLocks noGrp="1"/>
          </p:cNvSpPr>
          <p:nvPr/>
        </p:nvSpPr>
        <p:spPr>
          <a:xfrm>
            <a:off x="3448050" y="4819650"/>
            <a:ext cx="1790700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00A6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07B556-9C0B-499A-ABF5-5F181DB4F26A}"/>
              </a:ext>
            </a:extLst>
          </p:cNvPr>
          <p:cNvSpPr>
            <a:spLocks noGrp="1"/>
          </p:cNvSpPr>
          <p:nvPr/>
        </p:nvSpPr>
        <p:spPr>
          <a:xfrm>
            <a:off x="3562350" y="4914900"/>
            <a:ext cx="1562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B1728"/>
                </a:solidFill>
              </a:defRPr>
            </a:pPr>
            <a:r>
              <a:rPr sz="1275" b="1">
                <a:solidFill>
                  <a:srgbClr val="0B1728"/>
                </a:solidFill>
              </a:rPr>
              <a:t>RENDER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79FE9AF-6580-477A-8ED5-D505A2F1CE6D}"/>
              </a:ext>
            </a:extLst>
          </p:cNvPr>
          <p:cNvSpPr>
            <a:spLocks noGrp="1"/>
          </p:cNvSpPr>
          <p:nvPr/>
        </p:nvSpPr>
        <p:spPr>
          <a:xfrm>
            <a:off x="6286500" y="4819650"/>
            <a:ext cx="1790700" cy="933450"/>
          </a:xfrm>
          <a:prstGeom prst="roundRect">
            <a:avLst>
              <a:gd name="adj" fmla="val 8163"/>
            </a:avLst>
          </a:prstGeom>
          <a:solidFill>
            <a:srgbClr val="E6F7F8"/>
          </a:solidFill>
          <a:ln w="9525">
            <a:solidFill>
              <a:srgbClr val="00A6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72ABA2-DF52-4797-9A81-9BA6F34FD42D}"/>
              </a:ext>
            </a:extLst>
          </p:cNvPr>
          <p:cNvSpPr>
            <a:spLocks noGrp="1"/>
          </p:cNvSpPr>
          <p:nvPr/>
        </p:nvSpPr>
        <p:spPr>
          <a:xfrm>
            <a:off x="6400800" y="4914900"/>
            <a:ext cx="1562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B1728"/>
                </a:solidFill>
              </a:defRPr>
            </a:pPr>
            <a:r>
              <a:rPr sz="1275" b="1">
                <a:solidFill>
                  <a:srgbClr val="0B1728"/>
                </a:solidFill>
              </a:rPr>
              <a:t>INACTIVE</a:t>
            </a:r>
          </a:p>
          <a:p>
            <a:pPr algn="ctr">
              <a:defRPr sz="1275" b="1">
                <a:solidFill>
                  <a:srgbClr val="0B1728"/>
                </a:solidFill>
              </a:defRPr>
            </a:pPr>
            <a:r>
              <a:rPr sz="1275" b="1">
                <a:solidFill>
                  <a:srgbClr val="0B1728"/>
                </a:solidFill>
              </a:rPr>
              <a:t>SDRAM BUFFER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6797DEC-D304-46FB-A5F4-61ED0731C637}"/>
              </a:ext>
            </a:extLst>
          </p:cNvPr>
          <p:cNvSpPr>
            <a:spLocks noGrp="1"/>
          </p:cNvSpPr>
          <p:nvPr/>
        </p:nvSpPr>
        <p:spPr>
          <a:xfrm>
            <a:off x="9124950" y="4819650"/>
            <a:ext cx="1790700" cy="933450"/>
          </a:xfrm>
          <a:prstGeom prst="roundRect">
            <a:avLst>
              <a:gd name="adj" fmla="val 8163"/>
            </a:avLst>
          </a:prstGeom>
          <a:solidFill>
            <a:srgbClr val="E9F7EF"/>
          </a:solidFill>
          <a:ln w="9525">
            <a:solidFill>
              <a:srgbClr val="28A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BB4A59-8A67-4784-B334-830B3AB00EC9}"/>
              </a:ext>
            </a:extLst>
          </p:cNvPr>
          <p:cNvSpPr>
            <a:spLocks noGrp="1"/>
          </p:cNvSpPr>
          <p:nvPr/>
        </p:nvSpPr>
        <p:spPr>
          <a:xfrm>
            <a:off x="9239250" y="4914900"/>
            <a:ext cx="1562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B1728"/>
                </a:solidFill>
              </a:defRPr>
            </a:pPr>
            <a:r>
              <a:rPr sz="1275" b="1">
                <a:solidFill>
                  <a:srgbClr val="0B1728"/>
                </a:solidFill>
              </a:rPr>
              <a:t>LTDC</a:t>
            </a:r>
          </a:p>
          <a:p>
            <a:pPr algn="ctr">
              <a:defRPr sz="1275" b="1">
                <a:solidFill>
                  <a:srgbClr val="0B1728"/>
                </a:solidFill>
              </a:defRPr>
            </a:pPr>
            <a:r>
              <a:rPr sz="1275" b="1">
                <a:solidFill>
                  <a:srgbClr val="0B1728"/>
                </a:solidFill>
              </a:rPr>
              <a:t>DISPLAY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01A63D3-27BF-4E2F-B7BD-F9D6DF5FE1D4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752600" cy="323850"/>
          </a:xfrm>
          <a:prstGeom prst="roundRect">
            <a:avLst>
              <a:gd name="adj" fmla="val 23529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4EBE99-34CE-4BDA-9374-2FE1A3C0D785}"/>
              </a:ext>
            </a:extLst>
          </p:cNvPr>
          <p:cNvSpPr>
            <a:spLocks noGrp="1"/>
          </p:cNvSpPr>
          <p:nvPr/>
        </p:nvSpPr>
        <p:spPr>
          <a:xfrm>
            <a:off x="685800" y="5943600"/>
            <a:ext cx="1600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46BFD"/>
                </a:solidFill>
              </a:defRPr>
            </a:pPr>
            <a:r>
              <a:rPr sz="975" b="1">
                <a:solidFill>
                  <a:srgbClr val="246BFD"/>
                </a:solidFill>
              </a:rPr>
              <a:t>JEDEC EF 40 18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CF9695F-1F93-424D-9252-90071F008CE6}"/>
              </a:ext>
            </a:extLst>
          </p:cNvPr>
          <p:cNvSpPr>
            <a:spLocks noGrp="1"/>
          </p:cNvSpPr>
          <p:nvPr/>
        </p:nvSpPr>
        <p:spPr>
          <a:xfrm>
            <a:off x="6286500" y="5924550"/>
            <a:ext cx="2266950" cy="323850"/>
          </a:xfrm>
          <a:prstGeom prst="roundRect">
            <a:avLst>
              <a:gd name="adj" fmla="val 23529"/>
            </a:avLst>
          </a:prstGeom>
          <a:solidFill>
            <a:srgbClr val="E9F7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42266F-1A03-4CF1-A818-13CB28DACE87}"/>
              </a:ext>
            </a:extLst>
          </p:cNvPr>
          <p:cNvSpPr>
            <a:spLocks noGrp="1"/>
          </p:cNvSpPr>
          <p:nvPr/>
        </p:nvSpPr>
        <p:spPr>
          <a:xfrm>
            <a:off x="6362700" y="5943600"/>
            <a:ext cx="2114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8A66A"/>
                </a:solidFill>
              </a:defRPr>
            </a:pPr>
            <a:r>
              <a:rPr sz="975" b="1">
                <a:solidFill>
                  <a:srgbClr val="28A66A"/>
                </a:solidFill>
              </a:rPr>
              <a:t>0xC0000000 · ~66 MHz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FAF7A36-F26A-400F-9601-68ECF5B65361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77879A"/>
                </a:solidFill>
              </a:defRPr>
            </a:pPr>
            <a:r>
              <a:rPr sz="825" b="1">
                <a:solidFill>
                  <a:srgbClr val="77879A"/>
                </a:solidFill>
              </a:rPr>
              <a:t>SMART HOME HUB · ADVANCED PCB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2128BE-A7BD-494D-9B18-F2E290FF56C0}"/>
              </a:ext>
            </a:extLst>
          </p:cNvPr>
          <p:cNvSpPr>
            <a:spLocks noGrp="1"/>
          </p:cNvSpPr>
          <p:nvPr/>
        </p:nvSpPr>
        <p:spPr>
          <a:xfrm>
            <a:off x="10668000" y="651510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77879A"/>
                </a:solidFill>
              </a:defRPr>
            </a:pPr>
            <a:r>
              <a:rPr sz="825" b="1">
                <a:solidFill>
                  <a:srgbClr val="77879A"/>
                </a:solidFill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1161112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7546E1F-ED78-499E-8150-975226F3E0E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A6B2"/>
                </a:solidFill>
              </a:defRPr>
            </a:pPr>
            <a:r>
              <a:rPr sz="975" b="1">
                <a:solidFill>
                  <a:srgbClr val="00A6B2"/>
                </a:solidFill>
              </a:rPr>
              <a:t>FIRMWARE AND GUI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94C3D4-2848-496D-B391-397341C9E06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0B1728"/>
                </a:solidFill>
              </a:defRPr>
            </a:pPr>
            <a:r>
              <a:rPr sz="3000" b="1">
                <a:solidFill>
                  <a:srgbClr val="0B1728"/>
                </a:solidFill>
              </a:rPr>
              <a:t>The dashboard shows decisions—not raw diagnostics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F329BC-12BE-44AA-8409-E1CCB95903F8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D6E0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CED4ED-454B-4CB8-BEDF-F7735A1D0DD2}"/>
              </a:ext>
            </a:extLst>
          </p:cNvPr>
          <p:cNvSpPr>
            <a:spLocks noGrp="1"/>
          </p:cNvSpPr>
          <p:nvPr/>
        </p:nvSpPr>
        <p:spPr>
          <a:xfrm>
            <a:off x="11144250" y="2857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D6B7E"/>
                </a:solidFill>
              </a:defRPr>
            </a:pPr>
            <a:r>
              <a:rPr sz="975" b="1">
                <a:solidFill>
                  <a:srgbClr val="5D6B7E"/>
                </a:solidFill>
              </a:rPr>
              <a:t>07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rcRect t="6341" b="6341"/>
          <a:stretch>
            <a:fillRect/>
          </a:stretch>
        </p:blipFill>
        <p:spPr>
          <a:xfrm>
            <a:off x="609600" y="1466850"/>
            <a:ext cx="7010400" cy="4591050"/>
          </a:xfrm>
          <a:prstGeom prst="roundRect">
            <a:avLst>
              <a:gd name="adj" fmla="val 2490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CB4B6B-9C30-4C00-84B5-E2B02A089B6A}"/>
              </a:ext>
            </a:extLst>
          </p:cNvPr>
          <p:cNvSpPr>
            <a:spLocks noGrp="1"/>
          </p:cNvSpPr>
          <p:nvPr/>
        </p:nvSpPr>
        <p:spPr>
          <a:xfrm>
            <a:off x="8020050" y="15049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Normal operation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217498-0838-451C-BAB4-1A80A84351F2}"/>
              </a:ext>
            </a:extLst>
          </p:cNvPr>
          <p:cNvSpPr>
            <a:spLocks noGrp="1"/>
          </p:cNvSpPr>
          <p:nvPr/>
        </p:nvSpPr>
        <p:spPr>
          <a:xfrm>
            <a:off x="8020050" y="2095500"/>
            <a:ext cx="76200" cy="76200"/>
          </a:xfrm>
          <a:prstGeom prst="rect">
            <a:avLst/>
          </a:prstGeom>
          <a:solidFill>
            <a:srgbClr val="246BF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67B882-FCB6-49F0-8E96-5AA90CB62F4C}"/>
              </a:ext>
            </a:extLst>
          </p:cNvPr>
          <p:cNvSpPr>
            <a:spLocks noGrp="1"/>
          </p:cNvSpPr>
          <p:nvPr/>
        </p:nvSpPr>
        <p:spPr>
          <a:xfrm>
            <a:off x="8229600" y="2000250"/>
            <a:ext cx="3009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0B1728"/>
                </a:solidFill>
              </a:defRPr>
            </a:pPr>
            <a:r>
              <a:rPr sz="1425" b="0">
                <a:solidFill>
                  <a:srgbClr val="0B1728"/>
                </a:solidFill>
              </a:rPr>
              <a:t>Network time, date, location and outside temperature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D06A42-C715-4305-9DF9-A5C728BA41E7}"/>
              </a:ext>
            </a:extLst>
          </p:cNvPr>
          <p:cNvSpPr>
            <a:spLocks noGrp="1"/>
          </p:cNvSpPr>
          <p:nvPr/>
        </p:nvSpPr>
        <p:spPr>
          <a:xfrm>
            <a:off x="8020050" y="2857500"/>
            <a:ext cx="76200" cy="76200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E2B19D-2784-433B-8335-1DC257265B09}"/>
              </a:ext>
            </a:extLst>
          </p:cNvPr>
          <p:cNvSpPr>
            <a:spLocks noGrp="1"/>
          </p:cNvSpPr>
          <p:nvPr/>
        </p:nvSpPr>
        <p:spPr>
          <a:xfrm>
            <a:off x="8229600" y="2762250"/>
            <a:ext cx="3009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0B1728"/>
                </a:solidFill>
              </a:defRPr>
            </a:pPr>
            <a:r>
              <a:rPr sz="1425" b="0">
                <a:solidFill>
                  <a:srgbClr val="0B1728"/>
                </a:solidFill>
              </a:rPr>
              <a:t>Compensated SCD41 room temperature and humidity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1E4B16-F8CC-48B8-9E1F-47B4191FE9E6}"/>
              </a:ext>
            </a:extLst>
          </p:cNvPr>
          <p:cNvSpPr>
            <a:spLocks noGrp="1"/>
          </p:cNvSpPr>
          <p:nvPr/>
        </p:nvSpPr>
        <p:spPr>
          <a:xfrm>
            <a:off x="8020050" y="3619500"/>
            <a:ext cx="76200" cy="76200"/>
          </a:xfrm>
          <a:prstGeom prst="rect">
            <a:avLst/>
          </a:prstGeom>
          <a:solidFill>
            <a:srgbClr val="28A66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4F56A0-785E-4746-B8B7-8B6E81516F48}"/>
              </a:ext>
            </a:extLst>
          </p:cNvPr>
          <p:cNvSpPr>
            <a:spLocks noGrp="1"/>
          </p:cNvSpPr>
          <p:nvPr/>
        </p:nvSpPr>
        <p:spPr>
          <a:xfrm>
            <a:off x="8229600" y="3524250"/>
            <a:ext cx="3009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0B1728"/>
                </a:solidFill>
              </a:defRPr>
            </a:pPr>
            <a:r>
              <a:rPr sz="1425" b="0">
                <a:solidFill>
                  <a:srgbClr val="0B1728"/>
                </a:solidFill>
              </a:rPr>
              <a:t>SCD41 CO₂ and BME688 pressure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A67257-CE09-4519-AD38-A2FAEC80D0FB}"/>
              </a:ext>
            </a:extLst>
          </p:cNvPr>
          <p:cNvSpPr>
            <a:spLocks noGrp="1"/>
          </p:cNvSpPr>
          <p:nvPr/>
        </p:nvSpPr>
        <p:spPr>
          <a:xfrm>
            <a:off x="8020050" y="4381500"/>
            <a:ext cx="76200" cy="76200"/>
          </a:xfrm>
          <a:prstGeom prst="rect">
            <a:avLst/>
          </a:prstGeom>
          <a:solidFill>
            <a:srgbClr val="F2B6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4326F0-7D99-44A3-B3E0-478F8D0F9174}"/>
              </a:ext>
            </a:extLst>
          </p:cNvPr>
          <p:cNvSpPr>
            <a:spLocks noGrp="1"/>
          </p:cNvSpPr>
          <p:nvPr/>
        </p:nvSpPr>
        <p:spPr>
          <a:xfrm>
            <a:off x="8229600" y="4286250"/>
            <a:ext cx="3009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0B1728"/>
                </a:solidFill>
              </a:defRPr>
            </a:pPr>
            <a:r>
              <a:rPr sz="1425" b="0">
                <a:solidFill>
                  <a:srgbClr val="0B1728"/>
                </a:solidFill>
              </a:rPr>
              <a:t>Interpreted air-quality text with status icons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4C1071-792F-461A-8FF1-BDC1DEB7E4EC}"/>
              </a:ext>
            </a:extLst>
          </p:cNvPr>
          <p:cNvSpPr>
            <a:spLocks noGrp="1"/>
          </p:cNvSpPr>
          <p:nvPr/>
        </p:nvSpPr>
        <p:spPr>
          <a:xfrm>
            <a:off x="8020050" y="5162550"/>
            <a:ext cx="3219450" cy="781050"/>
          </a:xfrm>
          <a:prstGeom prst="roundRect">
            <a:avLst>
              <a:gd name="adj" fmla="val 9756"/>
            </a:avLst>
          </a:prstGeom>
          <a:solidFill>
            <a:srgbClr val="E6F7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5049AE-84E8-4460-8632-693ED4D93E1C}"/>
              </a:ext>
            </a:extLst>
          </p:cNvPr>
          <p:cNvSpPr>
            <a:spLocks noGrp="1"/>
          </p:cNvSpPr>
          <p:nvPr/>
        </p:nvSpPr>
        <p:spPr>
          <a:xfrm>
            <a:off x="8210550" y="5257800"/>
            <a:ext cx="2838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0263F"/>
                </a:solidFill>
              </a:defRPr>
            </a:pPr>
            <a:r>
              <a:rPr sz="1275" b="1">
                <a:solidFill>
                  <a:srgbClr val="10263F"/>
                </a:solidFill>
              </a:rPr>
              <a:t>Flame and gas diagnostics stay in the background until an alarm has priority.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37BDAE-CB4C-428A-A2FB-33053BE06F48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77879A"/>
                </a:solidFill>
              </a:defRPr>
            </a:pPr>
            <a:r>
              <a:rPr sz="825" b="1">
                <a:solidFill>
                  <a:srgbClr val="77879A"/>
                </a:solidFill>
              </a:rPr>
              <a:t>SMART HOME HUB · ADVANCED PCB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A1B50C-5293-467B-B91F-D5097507BA32}"/>
              </a:ext>
            </a:extLst>
          </p:cNvPr>
          <p:cNvSpPr>
            <a:spLocks noGrp="1"/>
          </p:cNvSpPr>
          <p:nvPr/>
        </p:nvSpPr>
        <p:spPr>
          <a:xfrm>
            <a:off x="10668000" y="651510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77879A"/>
                </a:solidFill>
              </a:defRPr>
            </a:pPr>
            <a:r>
              <a:rPr sz="825" b="1">
                <a:solidFill>
                  <a:srgbClr val="77879A"/>
                </a:solidFill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33188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5FD604A-C59E-4105-BEBE-A98BE32F0FE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A6B2"/>
                </a:solidFill>
              </a:defRPr>
            </a:pPr>
            <a:r>
              <a:rPr sz="975" b="1">
                <a:solidFill>
                  <a:srgbClr val="00A6B2"/>
                </a:solidFill>
              </a:rPr>
              <a:t>ALERT BEHAVIOUR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373A52-146E-460D-9B65-C3C1197F933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0B1728"/>
                </a:solidFill>
              </a:defRPr>
            </a:pPr>
            <a:r>
              <a:rPr sz="3000" b="1">
                <a:solidFill>
                  <a:srgbClr val="0B1728"/>
                </a:solidFill>
              </a:rPr>
              <a:t>Abnormal conditions receive immediate local priority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ADC53B-3EE3-47C9-BFE4-FEBA61EABB81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D6E0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49C4FB-5087-444B-A94A-350B7FEF7BD0}"/>
              </a:ext>
            </a:extLst>
          </p:cNvPr>
          <p:cNvSpPr>
            <a:spLocks noGrp="1"/>
          </p:cNvSpPr>
          <p:nvPr/>
        </p:nvSpPr>
        <p:spPr>
          <a:xfrm>
            <a:off x="11144250" y="2857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D6B7E"/>
                </a:solidFill>
              </a:defRPr>
            </a:pPr>
            <a:r>
              <a:rPr sz="975" b="1">
                <a:solidFill>
                  <a:srgbClr val="5D6B7E"/>
                </a:solidFill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87CB9B-2C4E-438F-BDF7-05B2CBEC2898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B1728"/>
                </a:solidFill>
              </a:defRPr>
            </a:pPr>
            <a:r>
              <a:rPr sz="1800" b="1">
                <a:solidFill>
                  <a:srgbClr val="0B1728"/>
                </a:solidFill>
              </a:rPr>
              <a:t>Local path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82BC61C5-B6C3-48B2-9A5F-F896B6018182}"/>
              </a:ext>
            </a:extLst>
          </p:cNvPr>
          <p:cNvSpPr>
            <a:spLocks noGrp="1"/>
          </p:cNvSpPr>
          <p:nvPr/>
        </p:nvSpPr>
        <p:spPr>
          <a:xfrm>
            <a:off x="1619250" y="2266950"/>
            <a:ext cx="342900" cy="438150"/>
          </a:xfrm>
          <a:prstGeom prst="downArrow">
            <a:avLst/>
          </a:prstGeom>
          <a:solidFill>
            <a:srgbClr val="FDEC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42BD08D6-5100-44FD-B51B-D7D7A719069E}"/>
              </a:ext>
            </a:extLst>
          </p:cNvPr>
          <p:cNvSpPr>
            <a:spLocks noGrp="1"/>
          </p:cNvSpPr>
          <p:nvPr/>
        </p:nvSpPr>
        <p:spPr>
          <a:xfrm>
            <a:off x="1619250" y="3371850"/>
            <a:ext cx="342900" cy="438150"/>
          </a:xfrm>
          <a:prstGeom prst="downArrow">
            <a:avLst/>
          </a:prstGeom>
          <a:solidFill>
            <a:srgbClr val="FDEC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46976E32-53CD-4B87-8824-CEED47477E1F}"/>
              </a:ext>
            </a:extLst>
          </p:cNvPr>
          <p:cNvSpPr>
            <a:spLocks noGrp="1"/>
          </p:cNvSpPr>
          <p:nvPr/>
        </p:nvSpPr>
        <p:spPr>
          <a:xfrm>
            <a:off x="1619250" y="4476750"/>
            <a:ext cx="342900" cy="438150"/>
          </a:xfrm>
          <a:prstGeom prst="downArrow">
            <a:avLst/>
          </a:prstGeom>
          <a:solidFill>
            <a:srgbClr val="FDECE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28C50F7-8AE4-40E5-A106-65F4FA65FB4D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37338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3B4460-A750-44AD-A322-8AB79A7A90D4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0A6B2"/>
                </a:solidFill>
              </a:defRPr>
            </a:pPr>
            <a:r>
              <a:rPr sz="1200" b="1">
                <a:solidFill>
                  <a:srgbClr val="00A6B2"/>
                </a:solidFill>
              </a:rPr>
              <a:t>MEASURE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0A02D6-A7E9-4F6B-8646-2B90A2106879}"/>
              </a:ext>
            </a:extLst>
          </p:cNvPr>
          <p:cNvSpPr>
            <a:spLocks noGrp="1"/>
          </p:cNvSpPr>
          <p:nvPr/>
        </p:nvSpPr>
        <p:spPr>
          <a:xfrm>
            <a:off x="819150" y="2266950"/>
            <a:ext cx="3276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0B1728"/>
                </a:solidFill>
              </a:defRPr>
            </a:pPr>
            <a:r>
              <a:rPr sz="1275" b="1">
                <a:solidFill>
                  <a:srgbClr val="0B1728"/>
                </a:solidFill>
              </a:rPr>
              <a:t>Flame ADC/comparator and environmental values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4A2BFD9-CA32-4ED1-B161-83B17EEF49F8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37338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B8C74C-0DA4-44C5-BBA5-AD62662B72CC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0A6B2"/>
                </a:solidFill>
              </a:defRPr>
            </a:pPr>
            <a:r>
              <a:rPr sz="1200" b="1">
                <a:solidFill>
                  <a:srgbClr val="00A6B2"/>
                </a:solidFill>
              </a:rPr>
              <a:t>CONFIRM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34ADE1-A8EE-43BA-B569-E9931971A93E}"/>
              </a:ext>
            </a:extLst>
          </p:cNvPr>
          <p:cNvSpPr>
            <a:spLocks noGrp="1"/>
          </p:cNvSpPr>
          <p:nvPr/>
        </p:nvSpPr>
        <p:spPr>
          <a:xfrm>
            <a:off x="819150" y="3371850"/>
            <a:ext cx="3276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0B1728"/>
                </a:solidFill>
              </a:defRPr>
            </a:pPr>
            <a:r>
              <a:rPr sz="1275" b="1">
                <a:solidFill>
                  <a:srgbClr val="0B1728"/>
                </a:solidFill>
              </a:rPr>
              <a:t>Persistence + hysteresis suppress chatter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E4578B7-FA40-40B1-A23A-9E3E065EB216}"/>
              </a:ext>
            </a:extLst>
          </p:cNvPr>
          <p:cNvSpPr>
            <a:spLocks noGrp="1"/>
          </p:cNvSpPr>
          <p:nvPr/>
        </p:nvSpPr>
        <p:spPr>
          <a:xfrm>
            <a:off x="609600" y="4133850"/>
            <a:ext cx="3733800" cy="800100"/>
          </a:xfrm>
          <a:prstGeom prst="roundRect">
            <a:avLst>
              <a:gd name="adj" fmla="val 9524"/>
            </a:avLst>
          </a:prstGeom>
          <a:solidFill>
            <a:srgbClr val="FDECEF"/>
          </a:solidFill>
          <a:ln w="9525">
            <a:solidFill>
              <a:srgbClr val="D94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E137EC-E2F2-4130-AD36-2AAAA49F40EB}"/>
              </a:ext>
            </a:extLst>
          </p:cNvPr>
          <p:cNvSpPr>
            <a:spLocks noGrp="1"/>
          </p:cNvSpPr>
          <p:nvPr/>
        </p:nvSpPr>
        <p:spPr>
          <a:xfrm>
            <a:off x="819150" y="42100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D94F5C"/>
                </a:solidFill>
              </a:defRPr>
            </a:pPr>
            <a:r>
              <a:rPr sz="1200" b="1">
                <a:solidFill>
                  <a:srgbClr val="D94F5C"/>
                </a:solidFill>
              </a:rPr>
              <a:t>WARN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EC10A3-7B05-4453-815F-CD61991D76D5}"/>
              </a:ext>
            </a:extLst>
          </p:cNvPr>
          <p:cNvSpPr>
            <a:spLocks noGrp="1"/>
          </p:cNvSpPr>
          <p:nvPr/>
        </p:nvSpPr>
        <p:spPr>
          <a:xfrm>
            <a:off x="819150" y="4476750"/>
            <a:ext cx="3276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0B1728"/>
                </a:solidFill>
              </a:defRPr>
            </a:pPr>
            <a:r>
              <a:rPr sz="1275" b="1">
                <a:solidFill>
                  <a:srgbClr val="0B1728"/>
                </a:solidFill>
              </a:rPr>
              <a:t>Priority screen overrides the dashboard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1DD01EE-09BB-43DC-B675-FD8B44A60D82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3733800" cy="800100"/>
          </a:xfrm>
          <a:prstGeom prst="roundRect">
            <a:avLst>
              <a:gd name="adj" fmla="val 9524"/>
            </a:avLst>
          </a:prstGeom>
          <a:solidFill>
            <a:srgbClr val="FDECEF"/>
          </a:solidFill>
          <a:ln w="9525">
            <a:solidFill>
              <a:srgbClr val="D94F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7A4D9A-B634-44DB-ABA5-2415A3520092}"/>
              </a:ext>
            </a:extLst>
          </p:cNvPr>
          <p:cNvSpPr>
            <a:spLocks noGrp="1"/>
          </p:cNvSpPr>
          <p:nvPr/>
        </p:nvSpPr>
        <p:spPr>
          <a:xfrm>
            <a:off x="819150" y="53149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D94F5C"/>
                </a:solidFill>
              </a:defRPr>
            </a:pPr>
            <a:r>
              <a:rPr sz="1200" b="1">
                <a:solidFill>
                  <a:srgbClr val="D94F5C"/>
                </a:solidFill>
              </a:rPr>
              <a:t>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83BE59-420C-436F-B6B0-CE5C431AF65E}"/>
              </a:ext>
            </a:extLst>
          </p:cNvPr>
          <p:cNvSpPr>
            <a:spLocks noGrp="1"/>
          </p:cNvSpPr>
          <p:nvPr/>
        </p:nvSpPr>
        <p:spPr>
          <a:xfrm>
            <a:off x="819150" y="5581650"/>
            <a:ext cx="3276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0B1728"/>
                </a:solidFill>
              </a:defRPr>
            </a:pPr>
            <a:r>
              <a:rPr sz="1275" b="1">
                <a:solidFill>
                  <a:srgbClr val="0B1728"/>
                </a:solidFill>
              </a:rPr>
              <a:t>Controlled buzzer pattern</a:t>
            </a: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3"/>
          <a:srcRect t="4351" b="4351"/>
          <a:stretch>
            <a:fillRect/>
          </a:stretch>
        </p:blipFill>
        <p:spPr>
          <a:xfrm>
            <a:off x="4895850" y="1466850"/>
            <a:ext cx="6686550" cy="4476750"/>
          </a:xfrm>
          <a:prstGeom prst="roundRect">
            <a:avLst>
              <a:gd name="adj" fmla="val 2553"/>
            </a:avLst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5999FB8-ED45-401A-8561-C28FF216CF9F}"/>
              </a:ext>
            </a:extLst>
          </p:cNvPr>
          <p:cNvSpPr>
            <a:spLocks noGrp="1"/>
          </p:cNvSpPr>
          <p:nvPr/>
        </p:nvSpPr>
        <p:spPr>
          <a:xfrm>
            <a:off x="4895850" y="6038850"/>
            <a:ext cx="6686550" cy="342900"/>
          </a:xfrm>
          <a:prstGeom prst="roundRect">
            <a:avLst>
              <a:gd name="adj" fmla="val 22222"/>
            </a:avLst>
          </a:prstGeom>
          <a:solidFill>
            <a:srgbClr val="FFF6D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ACD8BF-B9D5-4913-AC4B-3F5A102C0E8C}"/>
              </a:ext>
            </a:extLst>
          </p:cNvPr>
          <p:cNvSpPr>
            <a:spLocks noGrp="1"/>
          </p:cNvSpPr>
          <p:nvPr/>
        </p:nvSpPr>
        <p:spPr>
          <a:xfrm>
            <a:off x="5067300" y="6057900"/>
            <a:ext cx="6343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7B5A00"/>
                </a:solidFill>
              </a:defRPr>
            </a:pPr>
            <a:r>
              <a:rPr sz="1050" b="1">
                <a:solidFill>
                  <a:srgbClr val="7B5A00"/>
                </a:solidFill>
              </a:rPr>
              <a:t>BME688 gas resistance is an experimental relative indicator—not a certified gas-leak detector.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7C9A1D-4BFB-4385-8945-745D26489572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77879A"/>
                </a:solidFill>
              </a:defRPr>
            </a:pPr>
            <a:r>
              <a:rPr sz="825" b="1">
                <a:solidFill>
                  <a:srgbClr val="77879A"/>
                </a:solidFill>
              </a:rPr>
              <a:t>SMART HOME HUB · ADVANCED PCB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6C6F69-68CA-4617-9E9E-DB828A9C35BC}"/>
              </a:ext>
            </a:extLst>
          </p:cNvPr>
          <p:cNvSpPr>
            <a:spLocks noGrp="1"/>
          </p:cNvSpPr>
          <p:nvPr/>
        </p:nvSpPr>
        <p:spPr>
          <a:xfrm>
            <a:off x="10668000" y="651510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77879A"/>
                </a:solidFill>
              </a:defRPr>
            </a:pPr>
            <a:r>
              <a:rPr sz="825" b="1">
                <a:solidFill>
                  <a:srgbClr val="77879A"/>
                </a:solidFill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56886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056E55D1-DC83-4BC1-A480-195044C46FF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A6B2"/>
                </a:solidFill>
              </a:defRPr>
            </a:pPr>
            <a:r>
              <a:rPr sz="975" b="1">
                <a:solidFill>
                  <a:srgbClr val="00A6B2"/>
                </a:solidFill>
              </a:rPr>
              <a:t>CONNECTIVITY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651D30-F3AF-4B2C-B174-9EFC33CC6BF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0B1728"/>
                </a:solidFill>
              </a:defRPr>
            </a:pPr>
            <a:r>
              <a:rPr sz="3000" b="1">
                <a:solidFill>
                  <a:srgbClr val="0B1728"/>
                </a:solidFill>
              </a:rPr>
              <a:t>Wireless telemetry and wired service both pass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9AC4AB-24DA-43CF-B3D4-9A22528CBE83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D6E0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4AADBD-945D-4027-A323-08A8E4533C4E}"/>
              </a:ext>
            </a:extLst>
          </p:cNvPr>
          <p:cNvSpPr>
            <a:spLocks noGrp="1"/>
          </p:cNvSpPr>
          <p:nvPr/>
        </p:nvSpPr>
        <p:spPr>
          <a:xfrm>
            <a:off x="11144250" y="2857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D6B7E"/>
                </a:solidFill>
              </a:defRPr>
            </a:pPr>
            <a:r>
              <a:rPr sz="975" b="1">
                <a:solidFill>
                  <a:srgbClr val="5D6B7E"/>
                </a:solidFill>
              </a:rPr>
              <a:t>09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67B533F-1C14-4744-91A8-0399CF69430B}"/>
              </a:ext>
            </a:extLst>
          </p:cNvPr>
          <p:cNvSpPr>
            <a:spLocks noGrp="1"/>
          </p:cNvSpPr>
          <p:nvPr/>
        </p:nvSpPr>
        <p:spPr>
          <a:xfrm>
            <a:off x="2990850" y="2076450"/>
            <a:ext cx="2057400" cy="304800"/>
          </a:xfrm>
          <a:prstGeom prst="rightArrow">
            <a:avLst/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CA7DC9-9215-41D9-B593-E8ECBE0AB66B}"/>
              </a:ext>
            </a:extLst>
          </p:cNvPr>
          <p:cNvSpPr>
            <a:spLocks noGrp="1"/>
          </p:cNvSpPr>
          <p:nvPr/>
        </p:nvSpPr>
        <p:spPr>
          <a:xfrm>
            <a:off x="2990850" y="3638550"/>
            <a:ext cx="2057400" cy="304800"/>
          </a:xfrm>
          <a:prstGeom prst="rightArrow">
            <a:avLst/>
          </a:prstGeom>
          <a:solidFill>
            <a:srgbClr val="E6F7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F9651416-47BD-403C-9B1F-5A89FDE19D7D}"/>
              </a:ext>
            </a:extLst>
          </p:cNvPr>
          <p:cNvSpPr>
            <a:spLocks noGrp="1"/>
          </p:cNvSpPr>
          <p:nvPr/>
        </p:nvSpPr>
        <p:spPr>
          <a:xfrm>
            <a:off x="7105650" y="2076450"/>
            <a:ext cx="2057400" cy="304800"/>
          </a:xfrm>
          <a:prstGeom prst="rightArrow">
            <a:avLst/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6CE04E4-C36D-4ECE-9001-796355FD1122}"/>
              </a:ext>
            </a:extLst>
          </p:cNvPr>
          <p:cNvSpPr>
            <a:spLocks noGrp="1"/>
          </p:cNvSpPr>
          <p:nvPr/>
        </p:nvSpPr>
        <p:spPr>
          <a:xfrm>
            <a:off x="7105650" y="3638550"/>
            <a:ext cx="2057400" cy="304800"/>
          </a:xfrm>
          <a:prstGeom prst="rightArrow">
            <a:avLst/>
          </a:prstGeom>
          <a:solidFill>
            <a:srgbClr val="E6F7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E8E41F8-943C-435D-AAE5-68F67048E3D6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2381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02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7B43BF-079B-4518-9363-30908B11D400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0263F"/>
                </a:solidFill>
              </a:defRPr>
            </a:pPr>
            <a:r>
              <a:rPr sz="1725" b="1">
                <a:solidFill>
                  <a:srgbClr val="10263F"/>
                </a:solidFill>
              </a:rPr>
              <a:t>STM32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B1F443-DF6E-49F1-8B77-32A7F9601519}"/>
              </a:ext>
            </a:extLst>
          </p:cNvPr>
          <p:cNvSpPr>
            <a:spLocks noGrp="1"/>
          </p:cNvSpPr>
          <p:nvPr/>
        </p:nvSpPr>
        <p:spPr>
          <a:xfrm>
            <a:off x="781050" y="226695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USART1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E07586B-7F0C-449F-A931-0FB12D64933A}"/>
              </a:ext>
            </a:extLst>
          </p:cNvPr>
          <p:cNvSpPr>
            <a:spLocks noGrp="1"/>
          </p:cNvSpPr>
          <p:nvPr/>
        </p:nvSpPr>
        <p:spPr>
          <a:xfrm>
            <a:off x="5048250" y="1771650"/>
            <a:ext cx="2381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19D307-A4BB-4183-93C6-028DDA8EF7DD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246BFD"/>
                </a:solidFill>
              </a:defRPr>
            </a:pPr>
            <a:r>
              <a:rPr sz="1725" b="1">
                <a:solidFill>
                  <a:srgbClr val="246BFD"/>
                </a:solidFill>
              </a:rPr>
              <a:t>ESP-01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F036AB-784B-41D4-B097-6B9A17C05306}"/>
              </a:ext>
            </a:extLst>
          </p:cNvPr>
          <p:cNvSpPr>
            <a:spLocks noGrp="1"/>
          </p:cNvSpPr>
          <p:nvPr/>
        </p:nvSpPr>
        <p:spPr>
          <a:xfrm>
            <a:off x="5219700" y="226695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Wi-Fi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1F1AC0A-FA57-46B1-8B02-A8AE683558B7}"/>
              </a:ext>
            </a:extLst>
          </p:cNvPr>
          <p:cNvSpPr>
            <a:spLocks noGrp="1"/>
          </p:cNvSpPr>
          <p:nvPr/>
        </p:nvSpPr>
        <p:spPr>
          <a:xfrm>
            <a:off x="9163050" y="1771650"/>
            <a:ext cx="2381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8A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9CEF3D-AE82-4ACD-8136-DFA262F03D09}"/>
              </a:ext>
            </a:extLst>
          </p:cNvPr>
          <p:cNvSpPr>
            <a:spLocks noGrp="1"/>
          </p:cNvSpPr>
          <p:nvPr/>
        </p:nvSpPr>
        <p:spPr>
          <a:xfrm>
            <a:off x="9334500" y="18859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28A66A"/>
                </a:solidFill>
              </a:defRPr>
            </a:pPr>
            <a:r>
              <a:rPr sz="1725" b="1">
                <a:solidFill>
                  <a:srgbClr val="28A66A"/>
                </a:solidFill>
              </a:rPr>
              <a:t>BLYNK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5984BE-1999-4AF7-95DA-4F20B3B06A2C}"/>
              </a:ext>
            </a:extLst>
          </p:cNvPr>
          <p:cNvSpPr>
            <a:spLocks noGrp="1"/>
          </p:cNvSpPr>
          <p:nvPr/>
        </p:nvSpPr>
        <p:spPr>
          <a:xfrm>
            <a:off x="9334500" y="226695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Cloud + weather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3ADAA50-D906-4664-AA36-D7CB35708A40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2381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02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A632C6-B3E3-4A63-A9C4-D910F6BF9101}"/>
              </a:ext>
            </a:extLst>
          </p:cNvPr>
          <p:cNvSpPr>
            <a:spLocks noGrp="1"/>
          </p:cNvSpPr>
          <p:nvPr/>
        </p:nvSpPr>
        <p:spPr>
          <a:xfrm>
            <a:off x="781050" y="34480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0263F"/>
                </a:solidFill>
              </a:defRPr>
            </a:pPr>
            <a:r>
              <a:rPr sz="1725" b="1">
                <a:solidFill>
                  <a:srgbClr val="10263F"/>
                </a:solidFill>
              </a:rPr>
              <a:t>STM32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E94DEA-FE56-47F3-88C0-1A35CB3145E9}"/>
              </a:ext>
            </a:extLst>
          </p:cNvPr>
          <p:cNvSpPr>
            <a:spLocks noGrp="1"/>
          </p:cNvSpPr>
          <p:nvPr/>
        </p:nvSpPr>
        <p:spPr>
          <a:xfrm>
            <a:off x="781050" y="382905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USART3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D056EED-B817-43BD-AAA6-428CB9D6F4E3}"/>
              </a:ext>
            </a:extLst>
          </p:cNvPr>
          <p:cNvSpPr>
            <a:spLocks noGrp="1"/>
          </p:cNvSpPr>
          <p:nvPr/>
        </p:nvSpPr>
        <p:spPr>
          <a:xfrm>
            <a:off x="5048250" y="3333750"/>
            <a:ext cx="2381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A6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E2ECEA-29DF-4D40-84BB-675865A83AAB}"/>
              </a:ext>
            </a:extLst>
          </p:cNvPr>
          <p:cNvSpPr>
            <a:spLocks noGrp="1"/>
          </p:cNvSpPr>
          <p:nvPr/>
        </p:nvSpPr>
        <p:spPr>
          <a:xfrm>
            <a:off x="5219700" y="34480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00A6B2"/>
                </a:solidFill>
              </a:defRPr>
            </a:pPr>
            <a:r>
              <a:rPr sz="1725" b="1">
                <a:solidFill>
                  <a:srgbClr val="00A6B2"/>
                </a:solidFill>
              </a:rPr>
              <a:t>MCP2221A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04389E-2A68-44E1-9EE8-49823ACCA3DD}"/>
              </a:ext>
            </a:extLst>
          </p:cNvPr>
          <p:cNvSpPr>
            <a:spLocks noGrp="1"/>
          </p:cNvSpPr>
          <p:nvPr/>
        </p:nvSpPr>
        <p:spPr>
          <a:xfrm>
            <a:off x="5219700" y="382905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USB–UART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5A2DB5B-F999-4869-81DA-8C7C03912B11}"/>
              </a:ext>
            </a:extLst>
          </p:cNvPr>
          <p:cNvSpPr>
            <a:spLocks noGrp="1"/>
          </p:cNvSpPr>
          <p:nvPr/>
        </p:nvSpPr>
        <p:spPr>
          <a:xfrm>
            <a:off x="9163050" y="3333750"/>
            <a:ext cx="2381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B3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43C096-9653-43F1-8CA3-3AB41BE23853}"/>
              </a:ext>
            </a:extLst>
          </p:cNvPr>
          <p:cNvSpPr>
            <a:spLocks noGrp="1"/>
          </p:cNvSpPr>
          <p:nvPr/>
        </p:nvSpPr>
        <p:spPr>
          <a:xfrm>
            <a:off x="9334500" y="34480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2B3E55"/>
                </a:solidFill>
              </a:defRPr>
            </a:pPr>
            <a:r>
              <a:rPr sz="1725" b="1">
                <a:solidFill>
                  <a:srgbClr val="2B3E55"/>
                </a:solidFill>
              </a:rPr>
              <a:t>PC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840A54-6D19-4ABF-94AB-A0672AE64DA1}"/>
              </a:ext>
            </a:extLst>
          </p:cNvPr>
          <p:cNvSpPr>
            <a:spLocks noGrp="1"/>
          </p:cNvSpPr>
          <p:nvPr/>
        </p:nvSpPr>
        <p:spPr>
          <a:xfrm>
            <a:off x="9334500" y="382905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5D6B7E"/>
                </a:solidFill>
              </a:defRPr>
            </a:pPr>
            <a:r>
              <a:rPr sz="1200" b="1">
                <a:solidFill>
                  <a:srgbClr val="5D6B7E"/>
                </a:solidFill>
              </a:rPr>
              <a:t>Terminal console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83016D8-C805-4B39-9682-C1843735720D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5181600" cy="514350"/>
          </a:xfrm>
          <a:prstGeom prst="roundRect">
            <a:avLst>
              <a:gd name="adj" fmla="val 14815"/>
            </a:avLst>
          </a:prstGeom>
          <a:solidFill>
            <a:srgbClr val="E9F7EF"/>
          </a:solidFill>
          <a:ln w="9525">
            <a:solidFill>
              <a:srgbClr val="28A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9F97386-F064-4717-9651-FD50F03242D7}"/>
              </a:ext>
            </a:extLst>
          </p:cNvPr>
          <p:cNvSpPr>
            <a:spLocks noGrp="1"/>
          </p:cNvSpPr>
          <p:nvPr/>
        </p:nvSpPr>
        <p:spPr>
          <a:xfrm>
            <a:off x="762000" y="5095875"/>
            <a:ext cx="190500" cy="190500"/>
          </a:xfrm>
          <a:prstGeom prst="ellipse">
            <a:avLst/>
          </a:prstGeom>
          <a:solidFill>
            <a:srgbClr val="28A66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356912-044E-4FAE-988B-40C82B42E18B}"/>
              </a:ext>
            </a:extLst>
          </p:cNvPr>
          <p:cNvSpPr>
            <a:spLocks noGrp="1"/>
          </p:cNvSpPr>
          <p:nvPr/>
        </p:nvSpPr>
        <p:spPr>
          <a:xfrm>
            <a:off x="762000" y="507682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76488A7-0361-43FE-B28A-5005AA27C8DC}"/>
              </a:ext>
            </a:extLst>
          </p:cNvPr>
          <p:cNvSpPr>
            <a:spLocks noGrp="1"/>
          </p:cNvSpPr>
          <p:nvPr/>
        </p:nvSpPr>
        <p:spPr>
          <a:xfrm>
            <a:off x="1066800" y="4972050"/>
            <a:ext cx="352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Wi-Fi association + Blynk updates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FE7075-C8BF-4669-9B99-32AE93585ED1}"/>
              </a:ext>
            </a:extLst>
          </p:cNvPr>
          <p:cNvSpPr>
            <a:spLocks noGrp="1"/>
          </p:cNvSpPr>
          <p:nvPr/>
        </p:nvSpPr>
        <p:spPr>
          <a:xfrm>
            <a:off x="4591050" y="4972050"/>
            <a:ext cx="104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28A66A"/>
                </a:solidFill>
              </a:defRPr>
            </a:pPr>
            <a:r>
              <a:rPr sz="1050" b="1">
                <a:solidFill>
                  <a:srgbClr val="28A66A"/>
                </a:solidFill>
              </a:rPr>
              <a:t>PASS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A93C652-D28D-4309-B775-7294AF7B6D66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5181600" cy="514350"/>
          </a:xfrm>
          <a:prstGeom prst="roundRect">
            <a:avLst>
              <a:gd name="adj" fmla="val 14815"/>
            </a:avLst>
          </a:prstGeom>
          <a:solidFill>
            <a:srgbClr val="E9F7EF"/>
          </a:solidFill>
          <a:ln w="9525">
            <a:solidFill>
              <a:srgbClr val="28A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2803FE6-50A5-4ABB-B3FB-D74E8B6C8C61}"/>
              </a:ext>
            </a:extLst>
          </p:cNvPr>
          <p:cNvSpPr>
            <a:spLocks noGrp="1"/>
          </p:cNvSpPr>
          <p:nvPr/>
        </p:nvSpPr>
        <p:spPr>
          <a:xfrm>
            <a:off x="762000" y="5724525"/>
            <a:ext cx="190500" cy="190500"/>
          </a:xfrm>
          <a:prstGeom prst="ellipse">
            <a:avLst/>
          </a:prstGeom>
          <a:solidFill>
            <a:srgbClr val="28A66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EA7070D-38D3-41BA-BCCB-893EDC7B999B}"/>
              </a:ext>
            </a:extLst>
          </p:cNvPr>
          <p:cNvSpPr>
            <a:spLocks noGrp="1"/>
          </p:cNvSpPr>
          <p:nvPr/>
        </p:nvSpPr>
        <p:spPr>
          <a:xfrm>
            <a:off x="762000" y="570547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0E9E0DB-3EE5-49A3-9823-BD2B57CB59A2}"/>
              </a:ext>
            </a:extLst>
          </p:cNvPr>
          <p:cNvSpPr>
            <a:spLocks noGrp="1"/>
          </p:cNvSpPr>
          <p:nvPr/>
        </p:nvSpPr>
        <p:spPr>
          <a:xfrm>
            <a:off x="1066800" y="5600700"/>
            <a:ext cx="352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Weather, time and Brussels location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9046F2A-01ED-4A18-A357-CF14DA9876FE}"/>
              </a:ext>
            </a:extLst>
          </p:cNvPr>
          <p:cNvSpPr>
            <a:spLocks noGrp="1"/>
          </p:cNvSpPr>
          <p:nvPr/>
        </p:nvSpPr>
        <p:spPr>
          <a:xfrm>
            <a:off x="4591050" y="5600700"/>
            <a:ext cx="104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28A66A"/>
                </a:solidFill>
              </a:defRPr>
            </a:pPr>
            <a:r>
              <a:rPr sz="1050" b="1">
                <a:solidFill>
                  <a:srgbClr val="28A66A"/>
                </a:solidFill>
              </a:rPr>
              <a:t>PASS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A698A50-9622-4AE1-9EC7-F1D31B277B32}"/>
              </a:ext>
            </a:extLst>
          </p:cNvPr>
          <p:cNvSpPr>
            <a:spLocks noGrp="1"/>
          </p:cNvSpPr>
          <p:nvPr/>
        </p:nvSpPr>
        <p:spPr>
          <a:xfrm>
            <a:off x="6400800" y="4933950"/>
            <a:ext cx="5181600" cy="514350"/>
          </a:xfrm>
          <a:prstGeom prst="roundRect">
            <a:avLst>
              <a:gd name="adj" fmla="val 14815"/>
            </a:avLst>
          </a:prstGeom>
          <a:solidFill>
            <a:srgbClr val="E9F7EF"/>
          </a:solidFill>
          <a:ln w="9525">
            <a:solidFill>
              <a:srgbClr val="28A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6971A2A-3E16-4E60-8398-F87FF809B16F}"/>
              </a:ext>
            </a:extLst>
          </p:cNvPr>
          <p:cNvSpPr>
            <a:spLocks noGrp="1"/>
          </p:cNvSpPr>
          <p:nvPr/>
        </p:nvSpPr>
        <p:spPr>
          <a:xfrm>
            <a:off x="6553200" y="5095875"/>
            <a:ext cx="190500" cy="190500"/>
          </a:xfrm>
          <a:prstGeom prst="ellipse">
            <a:avLst/>
          </a:prstGeom>
          <a:solidFill>
            <a:srgbClr val="28A66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B29E99-6E53-48E3-BBE9-FB73A3143186}"/>
              </a:ext>
            </a:extLst>
          </p:cNvPr>
          <p:cNvSpPr>
            <a:spLocks noGrp="1"/>
          </p:cNvSpPr>
          <p:nvPr/>
        </p:nvSpPr>
        <p:spPr>
          <a:xfrm>
            <a:off x="6553200" y="507682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8B1456-5F6C-478B-954E-73C2A448BCEB}"/>
              </a:ext>
            </a:extLst>
          </p:cNvPr>
          <p:cNvSpPr>
            <a:spLocks noGrp="1"/>
          </p:cNvSpPr>
          <p:nvPr/>
        </p:nvSpPr>
        <p:spPr>
          <a:xfrm>
            <a:off x="6858000" y="4972050"/>
            <a:ext cx="352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MCP2221A + two-way USART3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7CDF21C-2727-4FDC-B6E2-F37807D31104}"/>
              </a:ext>
            </a:extLst>
          </p:cNvPr>
          <p:cNvSpPr>
            <a:spLocks noGrp="1"/>
          </p:cNvSpPr>
          <p:nvPr/>
        </p:nvSpPr>
        <p:spPr>
          <a:xfrm>
            <a:off x="10382250" y="4972050"/>
            <a:ext cx="104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28A66A"/>
                </a:solidFill>
              </a:defRPr>
            </a:pPr>
            <a:r>
              <a:rPr sz="1050" b="1">
                <a:solidFill>
                  <a:srgbClr val="28A66A"/>
                </a:solidFill>
              </a:rPr>
              <a:t>PASS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387903A-B9CE-4C04-975C-38CE0D2C21C9}"/>
              </a:ext>
            </a:extLst>
          </p:cNvPr>
          <p:cNvSpPr>
            <a:spLocks noGrp="1"/>
          </p:cNvSpPr>
          <p:nvPr/>
        </p:nvSpPr>
        <p:spPr>
          <a:xfrm>
            <a:off x="6400800" y="5562600"/>
            <a:ext cx="5181600" cy="514350"/>
          </a:xfrm>
          <a:prstGeom prst="roundRect">
            <a:avLst>
              <a:gd name="adj" fmla="val 14815"/>
            </a:avLst>
          </a:prstGeom>
          <a:solidFill>
            <a:srgbClr val="E6F7F8"/>
          </a:solidFill>
          <a:ln w="9525">
            <a:solidFill>
              <a:srgbClr val="00A6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7F774D9-2B73-4B2C-BC71-021FA98CA0FD}"/>
              </a:ext>
            </a:extLst>
          </p:cNvPr>
          <p:cNvSpPr>
            <a:spLocks noGrp="1"/>
          </p:cNvSpPr>
          <p:nvPr/>
        </p:nvSpPr>
        <p:spPr>
          <a:xfrm>
            <a:off x="6610350" y="56197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0B1728"/>
                </a:solidFill>
              </a:defRPr>
            </a:pPr>
            <a:r>
              <a:rPr sz="1275" b="1">
                <a:solidFill>
                  <a:srgbClr val="0B1728"/>
                </a:solidFill>
              </a:rPr>
              <a:t>Root cause repaired: USBLC6-2SC6 D+ path was shorted to GND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67C8626-ACA0-43A8-B63B-48663A1A9A62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77879A"/>
                </a:solidFill>
              </a:defRPr>
            </a:pPr>
            <a:r>
              <a:rPr sz="825" b="1">
                <a:solidFill>
                  <a:srgbClr val="77879A"/>
                </a:solidFill>
              </a:rPr>
              <a:t>SMART HOME HUB · ADVANCED PCB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75F25BE-E2BC-4845-A709-BF3B8E286880}"/>
              </a:ext>
            </a:extLst>
          </p:cNvPr>
          <p:cNvSpPr>
            <a:spLocks noGrp="1"/>
          </p:cNvSpPr>
          <p:nvPr/>
        </p:nvSpPr>
        <p:spPr>
          <a:xfrm>
            <a:off x="10668000" y="651510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77879A"/>
                </a:solidFill>
              </a:defRPr>
            </a:pPr>
            <a:r>
              <a:rPr sz="825" b="1">
                <a:solidFill>
                  <a:srgbClr val="77879A"/>
                </a:solidFill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1061990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47775A9B-F6D6-4B02-873B-769C8AF1616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A6B2"/>
                </a:solidFill>
              </a:defRPr>
            </a:pPr>
            <a:r>
              <a:rPr sz="975" b="1">
                <a:solidFill>
                  <a:srgbClr val="00A6B2"/>
                </a:solidFill>
              </a:rPr>
              <a:t>VERIFICATION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24C2D7-A991-4692-AF6E-8DDD88EE2985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0B1728"/>
                </a:solidFill>
              </a:defRPr>
            </a:pPr>
            <a:r>
              <a:rPr sz="3000" b="1">
                <a:solidFill>
                  <a:srgbClr val="0B1728"/>
                </a:solidFill>
              </a:rPr>
              <a:t>End-to-end tests confirm every core subsystem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196AE6-7079-4A0B-86B1-FC0E5963EDEE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D6E0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6F709A-BDBF-46F7-A8BC-989F4EA463C9}"/>
              </a:ext>
            </a:extLst>
          </p:cNvPr>
          <p:cNvSpPr>
            <a:spLocks noGrp="1"/>
          </p:cNvSpPr>
          <p:nvPr/>
        </p:nvSpPr>
        <p:spPr>
          <a:xfrm>
            <a:off x="11144250" y="2857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D6B7E"/>
                </a:solidFill>
              </a:defRPr>
            </a:pPr>
            <a:r>
              <a:rPr sz="975" b="1">
                <a:solidFill>
                  <a:srgbClr val="5D6B7E"/>
                </a:solidFill>
              </a:rPr>
              <a:t>10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rcRect l="12195" r="12195"/>
          <a:stretch>
            <a:fillRect/>
          </a:stretch>
        </p:blipFill>
        <p:spPr>
          <a:xfrm>
            <a:off x="609600" y="1447800"/>
            <a:ext cx="5505450" cy="4095750"/>
          </a:xfrm>
          <a:prstGeom prst="roundRect">
            <a:avLst>
              <a:gd name="adj" fmla="val 2791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733AA8-C7D2-447C-B344-4D490849E587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5D6B7E"/>
                </a:solidFill>
              </a:defRPr>
            </a:pPr>
            <a:r>
              <a:rPr sz="1125" b="1">
                <a:solidFill>
                  <a:srgbClr val="5D6B7E"/>
                </a:solidFill>
              </a:rPr>
              <a:t>Representative final snapshot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02FD92-4B83-44DA-850E-799E189B5247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5505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728"/>
                </a:solidFill>
              </a:defRPr>
            </a:pPr>
            <a:r>
              <a:rPr sz="1500" b="1">
                <a:solidFill>
                  <a:srgbClr val="0B1728"/>
                </a:solidFill>
              </a:rPr>
              <a:t>26.3 °C · 52.7 % · 600 ppm · 1009.2 hPa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7D2CBA-1052-41CB-9F71-E9C704BC02CE}"/>
              </a:ext>
            </a:extLst>
          </p:cNvPr>
          <p:cNvSpPr>
            <a:spLocks noGrp="1"/>
          </p:cNvSpPr>
          <p:nvPr/>
        </p:nvSpPr>
        <p:spPr>
          <a:xfrm>
            <a:off x="6534150" y="1504950"/>
            <a:ext cx="5048250" cy="514350"/>
          </a:xfrm>
          <a:prstGeom prst="roundRect">
            <a:avLst>
              <a:gd name="adj" fmla="val 14815"/>
            </a:avLst>
          </a:prstGeom>
          <a:solidFill>
            <a:srgbClr val="E9F7EF"/>
          </a:solidFill>
          <a:ln w="9525">
            <a:solidFill>
              <a:srgbClr val="28A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896EA8F-5E50-49D8-B198-B9D6490CC6C8}"/>
              </a:ext>
            </a:extLst>
          </p:cNvPr>
          <p:cNvSpPr>
            <a:spLocks noGrp="1"/>
          </p:cNvSpPr>
          <p:nvPr/>
        </p:nvSpPr>
        <p:spPr>
          <a:xfrm>
            <a:off x="6686550" y="1666875"/>
            <a:ext cx="190500" cy="190500"/>
          </a:xfrm>
          <a:prstGeom prst="ellipse">
            <a:avLst/>
          </a:prstGeom>
          <a:solidFill>
            <a:srgbClr val="28A66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9FBF27-2EC8-4F0C-BC4D-C0B3F6338949}"/>
              </a:ext>
            </a:extLst>
          </p:cNvPr>
          <p:cNvSpPr>
            <a:spLocks noGrp="1"/>
          </p:cNvSpPr>
          <p:nvPr/>
        </p:nvSpPr>
        <p:spPr>
          <a:xfrm>
            <a:off x="6686550" y="164782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B72DCE-18AE-41DD-A8CB-4B0D7082CB64}"/>
              </a:ext>
            </a:extLst>
          </p:cNvPr>
          <p:cNvSpPr>
            <a:spLocks noGrp="1"/>
          </p:cNvSpPr>
          <p:nvPr/>
        </p:nvSpPr>
        <p:spPr>
          <a:xfrm>
            <a:off x="6991350" y="1543050"/>
            <a:ext cx="3390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Power · MCU · display · backlight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26B240-AF4C-49F4-A744-4A914A26E6EA}"/>
              </a:ext>
            </a:extLst>
          </p:cNvPr>
          <p:cNvSpPr>
            <a:spLocks noGrp="1"/>
          </p:cNvSpPr>
          <p:nvPr/>
        </p:nvSpPr>
        <p:spPr>
          <a:xfrm>
            <a:off x="10382250" y="1543050"/>
            <a:ext cx="104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28A66A"/>
                </a:solidFill>
              </a:defRPr>
            </a:pPr>
            <a:r>
              <a:rPr sz="1050" b="1">
                <a:solidFill>
                  <a:srgbClr val="28A66A"/>
                </a:solidFill>
              </a:rPr>
              <a:t>PASS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D9C400-0854-4182-A4CF-CE3948A2F0F3}"/>
              </a:ext>
            </a:extLst>
          </p:cNvPr>
          <p:cNvSpPr>
            <a:spLocks noGrp="1"/>
          </p:cNvSpPr>
          <p:nvPr/>
        </p:nvSpPr>
        <p:spPr>
          <a:xfrm>
            <a:off x="6534150" y="2152650"/>
            <a:ext cx="5048250" cy="514350"/>
          </a:xfrm>
          <a:prstGeom prst="roundRect">
            <a:avLst>
              <a:gd name="adj" fmla="val 14815"/>
            </a:avLst>
          </a:prstGeom>
          <a:solidFill>
            <a:srgbClr val="E9F7EF"/>
          </a:solidFill>
          <a:ln w="9525">
            <a:solidFill>
              <a:srgbClr val="28A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5D25B83-FF06-49A4-8E88-960FBAC19D13}"/>
              </a:ext>
            </a:extLst>
          </p:cNvPr>
          <p:cNvSpPr>
            <a:spLocks noGrp="1"/>
          </p:cNvSpPr>
          <p:nvPr/>
        </p:nvSpPr>
        <p:spPr>
          <a:xfrm>
            <a:off x="6686550" y="2314575"/>
            <a:ext cx="190500" cy="190500"/>
          </a:xfrm>
          <a:prstGeom prst="ellipse">
            <a:avLst/>
          </a:prstGeom>
          <a:solidFill>
            <a:srgbClr val="28A66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32F323-8734-4C27-B333-9F6B02CA2A3F}"/>
              </a:ext>
            </a:extLst>
          </p:cNvPr>
          <p:cNvSpPr>
            <a:spLocks noGrp="1"/>
          </p:cNvSpPr>
          <p:nvPr/>
        </p:nvSpPr>
        <p:spPr>
          <a:xfrm>
            <a:off x="6686550" y="229552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644EAF-95AC-4938-9C0E-461E59D480FD}"/>
              </a:ext>
            </a:extLst>
          </p:cNvPr>
          <p:cNvSpPr>
            <a:spLocks noGrp="1"/>
          </p:cNvSpPr>
          <p:nvPr/>
        </p:nvSpPr>
        <p:spPr>
          <a:xfrm>
            <a:off x="6991350" y="2190750"/>
            <a:ext cx="3390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SCD41 · BME688 · flame · buzzer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EF03E7-8189-413F-BE43-A5073F48C26F}"/>
              </a:ext>
            </a:extLst>
          </p:cNvPr>
          <p:cNvSpPr>
            <a:spLocks noGrp="1"/>
          </p:cNvSpPr>
          <p:nvPr/>
        </p:nvSpPr>
        <p:spPr>
          <a:xfrm>
            <a:off x="10382250" y="2190750"/>
            <a:ext cx="104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28A66A"/>
                </a:solidFill>
              </a:defRPr>
            </a:pPr>
            <a:r>
              <a:rPr sz="1050" b="1">
                <a:solidFill>
                  <a:srgbClr val="28A66A"/>
                </a:solidFill>
              </a:rPr>
              <a:t>PASS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88986C4-7F9F-46DF-925D-8738E256E1C8}"/>
              </a:ext>
            </a:extLst>
          </p:cNvPr>
          <p:cNvSpPr>
            <a:spLocks noGrp="1"/>
          </p:cNvSpPr>
          <p:nvPr/>
        </p:nvSpPr>
        <p:spPr>
          <a:xfrm>
            <a:off x="6534150" y="2800350"/>
            <a:ext cx="5048250" cy="514350"/>
          </a:xfrm>
          <a:prstGeom prst="roundRect">
            <a:avLst>
              <a:gd name="adj" fmla="val 14815"/>
            </a:avLst>
          </a:prstGeom>
          <a:solidFill>
            <a:srgbClr val="E9F7EF"/>
          </a:solidFill>
          <a:ln w="9525">
            <a:solidFill>
              <a:srgbClr val="28A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D152AE0-F72D-40FA-95BC-8B135CEA1B35}"/>
              </a:ext>
            </a:extLst>
          </p:cNvPr>
          <p:cNvSpPr>
            <a:spLocks noGrp="1"/>
          </p:cNvSpPr>
          <p:nvPr/>
        </p:nvSpPr>
        <p:spPr>
          <a:xfrm>
            <a:off x="6686550" y="2962275"/>
            <a:ext cx="190500" cy="190500"/>
          </a:xfrm>
          <a:prstGeom prst="ellipse">
            <a:avLst/>
          </a:prstGeom>
          <a:solidFill>
            <a:srgbClr val="28A66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8E089B-C66C-4951-BDE3-09DA8232EFD9}"/>
              </a:ext>
            </a:extLst>
          </p:cNvPr>
          <p:cNvSpPr>
            <a:spLocks noGrp="1"/>
          </p:cNvSpPr>
          <p:nvPr/>
        </p:nvSpPr>
        <p:spPr>
          <a:xfrm>
            <a:off x="6686550" y="294322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2B4D0D-3C92-4594-B5B9-B08B0D0D95D7}"/>
              </a:ext>
            </a:extLst>
          </p:cNvPr>
          <p:cNvSpPr>
            <a:spLocks noGrp="1"/>
          </p:cNvSpPr>
          <p:nvPr/>
        </p:nvSpPr>
        <p:spPr>
          <a:xfrm>
            <a:off x="6991350" y="2838450"/>
            <a:ext cx="3390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ESP-01 · Blynk · weather · USB UART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7923A9-E310-45B0-9710-D1241AEF6B30}"/>
              </a:ext>
            </a:extLst>
          </p:cNvPr>
          <p:cNvSpPr>
            <a:spLocks noGrp="1"/>
          </p:cNvSpPr>
          <p:nvPr/>
        </p:nvSpPr>
        <p:spPr>
          <a:xfrm>
            <a:off x="10382250" y="2838450"/>
            <a:ext cx="104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28A66A"/>
                </a:solidFill>
              </a:defRPr>
            </a:pPr>
            <a:r>
              <a:rPr sz="1050" b="1">
                <a:solidFill>
                  <a:srgbClr val="28A66A"/>
                </a:solidFill>
              </a:rPr>
              <a:t>PASS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5F8AFEA-67FA-4B01-A30C-067826D9BD4D}"/>
              </a:ext>
            </a:extLst>
          </p:cNvPr>
          <p:cNvSpPr>
            <a:spLocks noGrp="1"/>
          </p:cNvSpPr>
          <p:nvPr/>
        </p:nvSpPr>
        <p:spPr>
          <a:xfrm>
            <a:off x="6534150" y="3448050"/>
            <a:ext cx="5048250" cy="514350"/>
          </a:xfrm>
          <a:prstGeom prst="roundRect">
            <a:avLst>
              <a:gd name="adj" fmla="val 14815"/>
            </a:avLst>
          </a:prstGeom>
          <a:solidFill>
            <a:srgbClr val="E9F7EF"/>
          </a:solidFill>
          <a:ln w="9525">
            <a:solidFill>
              <a:srgbClr val="28A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45E7CB8-A9C4-448E-8949-33367D835D83}"/>
              </a:ext>
            </a:extLst>
          </p:cNvPr>
          <p:cNvSpPr>
            <a:spLocks noGrp="1"/>
          </p:cNvSpPr>
          <p:nvPr/>
        </p:nvSpPr>
        <p:spPr>
          <a:xfrm>
            <a:off x="6686550" y="3609975"/>
            <a:ext cx="190500" cy="190500"/>
          </a:xfrm>
          <a:prstGeom prst="ellipse">
            <a:avLst/>
          </a:prstGeom>
          <a:solidFill>
            <a:srgbClr val="28A66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A759A8-06F3-489D-95A3-AB32799C3183}"/>
              </a:ext>
            </a:extLst>
          </p:cNvPr>
          <p:cNvSpPr>
            <a:spLocks noGrp="1"/>
          </p:cNvSpPr>
          <p:nvPr/>
        </p:nvSpPr>
        <p:spPr>
          <a:xfrm>
            <a:off x="6686550" y="359092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C67398-A4CC-4C9B-BF66-03E19EEAAA9D}"/>
              </a:ext>
            </a:extLst>
          </p:cNvPr>
          <p:cNvSpPr>
            <a:spLocks noGrp="1"/>
          </p:cNvSpPr>
          <p:nvPr/>
        </p:nvSpPr>
        <p:spPr>
          <a:xfrm>
            <a:off x="6991350" y="3486150"/>
            <a:ext cx="3390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QSPI EF 40 18 · full 8 MB SDRAM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857A70-75E2-435A-981C-A8A9B7461B81}"/>
              </a:ext>
            </a:extLst>
          </p:cNvPr>
          <p:cNvSpPr>
            <a:spLocks noGrp="1"/>
          </p:cNvSpPr>
          <p:nvPr/>
        </p:nvSpPr>
        <p:spPr>
          <a:xfrm>
            <a:off x="10382250" y="3486150"/>
            <a:ext cx="104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28A66A"/>
                </a:solidFill>
              </a:defRPr>
            </a:pPr>
            <a:r>
              <a:rPr sz="1050" b="1">
                <a:solidFill>
                  <a:srgbClr val="28A66A"/>
                </a:solidFill>
              </a:rPr>
              <a:t>PASS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3C2206B-B4A9-4F95-956D-C94886D18586}"/>
              </a:ext>
            </a:extLst>
          </p:cNvPr>
          <p:cNvSpPr>
            <a:spLocks noGrp="1"/>
          </p:cNvSpPr>
          <p:nvPr/>
        </p:nvSpPr>
        <p:spPr>
          <a:xfrm>
            <a:off x="6534150" y="4095750"/>
            <a:ext cx="5048250" cy="514350"/>
          </a:xfrm>
          <a:prstGeom prst="roundRect">
            <a:avLst>
              <a:gd name="adj" fmla="val 14815"/>
            </a:avLst>
          </a:prstGeom>
          <a:solidFill>
            <a:srgbClr val="FFF6D9"/>
          </a:solidFill>
          <a:ln w="9525">
            <a:solidFill>
              <a:srgbClr val="F2B6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30BFC5F-BFFB-492D-AF80-4CE2B4732CB8}"/>
              </a:ext>
            </a:extLst>
          </p:cNvPr>
          <p:cNvSpPr>
            <a:spLocks noGrp="1"/>
          </p:cNvSpPr>
          <p:nvPr/>
        </p:nvSpPr>
        <p:spPr>
          <a:xfrm>
            <a:off x="6686550" y="4257675"/>
            <a:ext cx="190500" cy="190500"/>
          </a:xfrm>
          <a:prstGeom prst="ellipse">
            <a:avLst/>
          </a:prstGeom>
          <a:solidFill>
            <a:srgbClr val="F2B6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220323-4C73-45AA-9182-B5FB1A008884}"/>
              </a:ext>
            </a:extLst>
          </p:cNvPr>
          <p:cNvSpPr>
            <a:spLocks noGrp="1"/>
          </p:cNvSpPr>
          <p:nvPr/>
        </p:nvSpPr>
        <p:spPr>
          <a:xfrm>
            <a:off x="6686550" y="4238625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DF76FD-5A45-4E24-9A99-C7979459E6D7}"/>
              </a:ext>
            </a:extLst>
          </p:cNvPr>
          <p:cNvSpPr>
            <a:spLocks noGrp="1"/>
          </p:cNvSpPr>
          <p:nvPr/>
        </p:nvSpPr>
        <p:spPr>
          <a:xfrm>
            <a:off x="6991350" y="4133850"/>
            <a:ext cx="3390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GT911 touch — external FPC torn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C45EE1-16A8-4E78-AED9-E1ECB2EFC448}"/>
              </a:ext>
            </a:extLst>
          </p:cNvPr>
          <p:cNvSpPr>
            <a:spLocks noGrp="1"/>
          </p:cNvSpPr>
          <p:nvPr/>
        </p:nvSpPr>
        <p:spPr>
          <a:xfrm>
            <a:off x="10382250" y="4133850"/>
            <a:ext cx="104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F2B632"/>
                </a:solidFill>
              </a:defRPr>
            </a:pPr>
            <a:r>
              <a:rPr sz="1050" b="1">
                <a:solidFill>
                  <a:srgbClr val="F2B632"/>
                </a:solidFill>
              </a:rPr>
              <a:t>NOT TESTABLE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041E0B9-3D33-4A69-918D-89748DB58F0F}"/>
              </a:ext>
            </a:extLst>
          </p:cNvPr>
          <p:cNvSpPr>
            <a:spLocks noGrp="1"/>
          </p:cNvSpPr>
          <p:nvPr/>
        </p:nvSpPr>
        <p:spPr>
          <a:xfrm>
            <a:off x="6534150" y="4876800"/>
            <a:ext cx="5048250" cy="1085850"/>
          </a:xfrm>
          <a:prstGeom prst="roundRect">
            <a:avLst>
              <a:gd name="adj" fmla="val 7018"/>
            </a:avLst>
          </a:prstGeom>
          <a:solidFill>
            <a:srgbClr val="EAF1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9CDB4D2-EFD6-4F72-9A9E-CF494F4AD1E7}"/>
              </a:ext>
            </a:extLst>
          </p:cNvPr>
          <p:cNvSpPr>
            <a:spLocks noGrp="1"/>
          </p:cNvSpPr>
          <p:nvPr/>
        </p:nvSpPr>
        <p:spPr>
          <a:xfrm>
            <a:off x="6762750" y="5010150"/>
            <a:ext cx="4591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0263F"/>
                </a:solidFill>
              </a:defRPr>
            </a:pPr>
            <a:r>
              <a:rPr sz="1575" b="1">
                <a:solidFill>
                  <a:srgbClr val="10263F"/>
                </a:solidFill>
              </a:rPr>
              <a:t>PASS means observed end-to-end behaviour—not only device enumeration.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D7922EA-A470-424F-BFE5-1A18AAFCF1EB}"/>
              </a:ext>
            </a:extLst>
          </p:cNvPr>
          <p:cNvSpPr>
            <a:spLocks noGrp="1"/>
          </p:cNvSpPr>
          <p:nvPr/>
        </p:nvSpPr>
        <p:spPr>
          <a:xfrm>
            <a:off x="6762750" y="5524500"/>
            <a:ext cx="4591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5D6B7E"/>
                </a:solidFill>
              </a:defRPr>
            </a:pPr>
            <a:r>
              <a:rPr sz="1275" b="1">
                <a:solidFill>
                  <a:srgbClr val="5D6B7E"/>
                </a:solidFill>
              </a:rPr>
              <a:t>Touch is the only unavailable fitted feature.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43E4022-C39C-4EA9-BC70-663EA4DBD413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77879A"/>
                </a:solidFill>
              </a:defRPr>
            </a:pPr>
            <a:r>
              <a:rPr sz="825" b="1">
                <a:solidFill>
                  <a:srgbClr val="77879A"/>
                </a:solidFill>
              </a:rPr>
              <a:t>SMART HOME HUB · ADVANCED PCB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5D77CA1-D17B-4F9B-AD06-7ABD44DDED67}"/>
              </a:ext>
            </a:extLst>
          </p:cNvPr>
          <p:cNvSpPr>
            <a:spLocks noGrp="1"/>
          </p:cNvSpPr>
          <p:nvPr/>
        </p:nvSpPr>
        <p:spPr>
          <a:xfrm>
            <a:off x="10668000" y="651510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77879A"/>
                </a:solidFill>
              </a:defRPr>
            </a:pPr>
            <a:r>
              <a:rPr sz="825" b="1">
                <a:solidFill>
                  <a:srgbClr val="77879A"/>
                </a:solidFill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305156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C9B1C5BD-918F-456B-ADC2-03CFD24A110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A6B2"/>
                </a:solidFill>
              </a:defRPr>
            </a:pPr>
            <a:r>
              <a:rPr sz="975" b="1">
                <a:solidFill>
                  <a:srgbClr val="00A6B2"/>
                </a:solidFill>
              </a:rPr>
              <a:t>PROBLEMS AND CORRECTIONS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3EC9E5-B83B-41D5-8BD4-6E7A3E2AAEE5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0B1728"/>
                </a:solidFill>
              </a:defRPr>
            </a:pPr>
            <a:r>
              <a:rPr sz="3000" b="1">
                <a:solidFill>
                  <a:srgbClr val="0B1728"/>
                </a:solidFill>
              </a:rPr>
              <a:t>Measured faults became engineering improvements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8223C0-F119-40D2-90A0-AE10532B2324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D6E0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E45DE7-F47C-45F8-9514-B5BCF4E5EF34}"/>
              </a:ext>
            </a:extLst>
          </p:cNvPr>
          <p:cNvSpPr>
            <a:spLocks noGrp="1"/>
          </p:cNvSpPr>
          <p:nvPr/>
        </p:nvSpPr>
        <p:spPr>
          <a:xfrm>
            <a:off x="11144250" y="2857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D6B7E"/>
                </a:solidFill>
              </a:defRPr>
            </a:pPr>
            <a:r>
              <a:rPr sz="975" b="1">
                <a:solidFill>
                  <a:srgbClr val="5D6B7E"/>
                </a:solidFill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2D56E-5634-4AF3-B689-BDF258D5E3A2}"/>
              </a:ext>
            </a:extLst>
          </p:cNvPr>
          <p:cNvSpPr>
            <a:spLocks noGrp="1"/>
          </p:cNvSpPr>
          <p:nvPr/>
        </p:nvSpPr>
        <p:spPr>
          <a:xfrm>
            <a:off x="1181100" y="3238500"/>
            <a:ext cx="9829800" cy="38100"/>
          </a:xfrm>
          <a:prstGeom prst="rect">
            <a:avLst/>
          </a:prstGeom>
          <a:solidFill>
            <a:srgbClr val="D6E0E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944E682-B673-4A9A-870E-3A7D0420A98C}"/>
              </a:ext>
            </a:extLst>
          </p:cNvPr>
          <p:cNvSpPr>
            <a:spLocks noGrp="1"/>
          </p:cNvSpPr>
          <p:nvPr/>
        </p:nvSpPr>
        <p:spPr>
          <a:xfrm>
            <a:off x="1047750" y="3105150"/>
            <a:ext cx="304800" cy="304800"/>
          </a:xfrm>
          <a:prstGeom prst="ellipse">
            <a:avLst/>
          </a:prstGeom>
          <a:solidFill>
            <a:srgbClr val="F2B6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AF7E47-88D4-41A3-A13A-5049089D1CB4}"/>
              </a:ext>
            </a:extLst>
          </p:cNvPr>
          <p:cNvSpPr>
            <a:spLocks noGrp="1"/>
          </p:cNvSpPr>
          <p:nvPr/>
        </p:nvSpPr>
        <p:spPr>
          <a:xfrm>
            <a:off x="1047750" y="3124200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F99D8F-617F-4D67-A727-FDD57671D636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2B632"/>
                </a:solidFill>
              </a:defRPr>
            </a:pPr>
            <a:r>
              <a:rPr sz="1275" b="1">
                <a:solidFill>
                  <a:srgbClr val="F2B632"/>
                </a:solidFill>
              </a:rPr>
              <a:t>BACKLIGHT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7CF252-A7F7-4D9B-9E95-FFF20FFB9F25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Reversed Schottky diode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F0E6F7-9C2E-4C47-B580-5DA47D930004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Polarity corrected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57C143-3B7C-45FC-8099-B76942352BB0}"/>
              </a:ext>
            </a:extLst>
          </p:cNvPr>
          <p:cNvSpPr>
            <a:spLocks noGrp="1"/>
          </p:cNvSpPr>
          <p:nvPr/>
        </p:nvSpPr>
        <p:spPr>
          <a:xfrm>
            <a:off x="4019550" y="3105150"/>
            <a:ext cx="304800" cy="304800"/>
          </a:xfrm>
          <a:prstGeom prst="ellipse">
            <a:avLst/>
          </a:prstGeom>
          <a:solidFill>
            <a:srgbClr val="28A66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4E83D9-15A1-4FEA-83DE-FF4EEB333128}"/>
              </a:ext>
            </a:extLst>
          </p:cNvPr>
          <p:cNvSpPr>
            <a:spLocks noGrp="1"/>
          </p:cNvSpPr>
          <p:nvPr/>
        </p:nvSpPr>
        <p:spPr>
          <a:xfrm>
            <a:off x="4019550" y="3124200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30A870-ED91-4D2A-A74F-F73321BDE546}"/>
              </a:ext>
            </a:extLst>
          </p:cNvPr>
          <p:cNvSpPr>
            <a:spLocks noGrp="1"/>
          </p:cNvSpPr>
          <p:nvPr/>
        </p:nvSpPr>
        <p:spPr>
          <a:xfrm>
            <a:off x="3333750" y="18669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8A66A"/>
                </a:solidFill>
              </a:defRPr>
            </a:pPr>
            <a:r>
              <a:rPr sz="1275" b="1">
                <a:solidFill>
                  <a:srgbClr val="28A66A"/>
                </a:solidFill>
              </a:rPr>
              <a:t>SDRAM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572A44-8469-45D2-B8A7-064F6B432800}"/>
              </a:ext>
            </a:extLst>
          </p:cNvPr>
          <p:cNvSpPr>
            <a:spLocks noGrp="1"/>
          </p:cNvSpPr>
          <p:nvPr/>
        </p:nvSpPr>
        <p:spPr>
          <a:xfrm>
            <a:off x="3333750" y="220980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Solder/FMC configuration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D23183-54C8-46AE-A410-B1C421A55DBF}"/>
              </a:ext>
            </a:extLst>
          </p:cNvPr>
          <p:cNvSpPr>
            <a:spLocks noGrp="1"/>
          </p:cNvSpPr>
          <p:nvPr/>
        </p:nvSpPr>
        <p:spPr>
          <a:xfrm>
            <a:off x="3333750" y="35623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8 MB verified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56306CB-FC57-4CAD-8A35-449807446DEB}"/>
              </a:ext>
            </a:extLst>
          </p:cNvPr>
          <p:cNvSpPr>
            <a:spLocks noGrp="1"/>
          </p:cNvSpPr>
          <p:nvPr/>
        </p:nvSpPr>
        <p:spPr>
          <a:xfrm>
            <a:off x="6991350" y="3105150"/>
            <a:ext cx="304800" cy="3048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E409FE-02B3-4003-ADED-68122DA3591F}"/>
              </a:ext>
            </a:extLst>
          </p:cNvPr>
          <p:cNvSpPr>
            <a:spLocks noGrp="1"/>
          </p:cNvSpPr>
          <p:nvPr/>
        </p:nvSpPr>
        <p:spPr>
          <a:xfrm>
            <a:off x="6991350" y="3124200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C99560-6F84-4DFF-8B0C-8D099A6CC4BC}"/>
              </a:ext>
            </a:extLst>
          </p:cNvPr>
          <p:cNvSpPr>
            <a:spLocks noGrp="1"/>
          </p:cNvSpPr>
          <p:nvPr/>
        </p:nvSpPr>
        <p:spPr>
          <a:xfrm>
            <a:off x="6305550" y="18669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00A6B2"/>
                </a:solidFill>
              </a:defRPr>
            </a:pPr>
            <a:r>
              <a:rPr sz="1275" b="1">
                <a:solidFill>
                  <a:srgbClr val="00A6B2"/>
                </a:solidFill>
              </a:rPr>
              <a:t>USB UART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71F122-1F18-4599-A7D5-D80F3DDAC126}"/>
              </a:ext>
            </a:extLst>
          </p:cNvPr>
          <p:cNvSpPr>
            <a:spLocks noGrp="1"/>
          </p:cNvSpPr>
          <p:nvPr/>
        </p:nvSpPr>
        <p:spPr>
          <a:xfrm>
            <a:off x="6305550" y="220980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D+ protection path short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902FA8-9F90-4CFF-A766-356B8F8616C8}"/>
              </a:ext>
            </a:extLst>
          </p:cNvPr>
          <p:cNvSpPr>
            <a:spLocks noGrp="1"/>
          </p:cNvSpPr>
          <p:nvPr/>
        </p:nvSpPr>
        <p:spPr>
          <a:xfrm>
            <a:off x="6305550" y="35623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Enumeration restored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6AFC80A-A1D7-4FA3-B80B-D1DAE00E6085}"/>
              </a:ext>
            </a:extLst>
          </p:cNvPr>
          <p:cNvSpPr>
            <a:spLocks noGrp="1"/>
          </p:cNvSpPr>
          <p:nvPr/>
        </p:nvSpPr>
        <p:spPr>
          <a:xfrm>
            <a:off x="9963150" y="3105150"/>
            <a:ext cx="304800" cy="304800"/>
          </a:xfrm>
          <a:prstGeom prst="ellipse">
            <a:avLst/>
          </a:prstGeom>
          <a:solidFill>
            <a:srgbClr val="D94F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731C13-F44E-4626-A002-BE52316CF7DF}"/>
              </a:ext>
            </a:extLst>
          </p:cNvPr>
          <p:cNvSpPr>
            <a:spLocks noGrp="1"/>
          </p:cNvSpPr>
          <p:nvPr/>
        </p:nvSpPr>
        <p:spPr>
          <a:xfrm>
            <a:off x="9963150" y="3124200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A99D4A-F52B-44A5-818C-0E87F090CFB7}"/>
              </a:ext>
            </a:extLst>
          </p:cNvPr>
          <p:cNvSpPr>
            <a:spLocks noGrp="1"/>
          </p:cNvSpPr>
          <p:nvPr/>
        </p:nvSpPr>
        <p:spPr>
          <a:xfrm>
            <a:off x="9277350" y="18669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94F5C"/>
                </a:solidFill>
              </a:defRPr>
            </a:pPr>
            <a:r>
              <a:rPr sz="1275" b="1">
                <a:solidFill>
                  <a:srgbClr val="D94F5C"/>
                </a:solidFill>
              </a:rPr>
              <a:t>TOUCH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64F149-010F-4CCA-8A52-AC963DAF0093}"/>
              </a:ext>
            </a:extLst>
          </p:cNvPr>
          <p:cNvSpPr>
            <a:spLocks noGrp="1"/>
          </p:cNvSpPr>
          <p:nvPr/>
        </p:nvSpPr>
        <p:spPr>
          <a:xfrm>
            <a:off x="9277350" y="220980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B1728"/>
                </a:solidFill>
              </a:defRPr>
            </a:pPr>
            <a:r>
              <a:rPr sz="1350" b="1">
                <a:solidFill>
                  <a:srgbClr val="0B1728"/>
                </a:solidFill>
              </a:rPr>
              <a:t>External flex torn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BBC213F-69C7-4656-B7AB-63E578D40F2A}"/>
              </a:ext>
            </a:extLst>
          </p:cNvPr>
          <p:cNvSpPr>
            <a:spLocks noGrp="1"/>
          </p:cNvSpPr>
          <p:nvPr/>
        </p:nvSpPr>
        <p:spPr>
          <a:xfrm>
            <a:off x="9277350" y="35623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5D6B7E"/>
                </a:solidFill>
              </a:defRPr>
            </a:pPr>
            <a:r>
              <a:rPr sz="1350" b="1">
                <a:solidFill>
                  <a:srgbClr val="5D6B7E"/>
                </a:solidFill>
              </a:rPr>
              <a:t>Rev-B serviceability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BBA54DC-9D54-4128-A456-405AD280B520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10972800" cy="1257300"/>
          </a:xfrm>
          <a:prstGeom prst="roundRect">
            <a:avLst>
              <a:gd name="adj" fmla="val 6061"/>
            </a:avLst>
          </a:prstGeom>
          <a:solidFill>
            <a:srgbClr val="1026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C06A22-0553-4CAF-83C3-583430314B7F}"/>
              </a:ext>
            </a:extLst>
          </p:cNvPr>
          <p:cNvSpPr>
            <a:spLocks noGrp="1"/>
          </p:cNvSpPr>
          <p:nvPr/>
        </p:nvSpPr>
        <p:spPr>
          <a:xfrm>
            <a:off x="876300" y="4819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55D9E6"/>
                </a:solidFill>
              </a:defRPr>
            </a:pPr>
            <a:r>
              <a:rPr sz="1125" b="1">
                <a:solidFill>
                  <a:srgbClr val="55D9E6"/>
                </a:solidFill>
              </a:rPr>
              <a:t>THE DEBUGGING METHOD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D4D1B8-FFD0-44E6-A320-F1A9B223543F}"/>
              </a:ext>
            </a:extLst>
          </p:cNvPr>
          <p:cNvSpPr>
            <a:spLocks noGrp="1"/>
          </p:cNvSpPr>
          <p:nvPr/>
        </p:nvSpPr>
        <p:spPr>
          <a:xfrm>
            <a:off x="876300" y="518160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Observe the symptom  →  measure the node  →  isolate hardware from firmware  →  repeat the full functional test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AEB525-D950-4F02-A5D2-F084386905F7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77879A"/>
                </a:solidFill>
              </a:defRPr>
            </a:pPr>
            <a:r>
              <a:rPr sz="825" b="1">
                <a:solidFill>
                  <a:srgbClr val="77879A"/>
                </a:solidFill>
              </a:rPr>
              <a:t>SMART HOME HUB · ADVANCED PCB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095BFD-A51F-465A-AA2D-5112C4CD576D}"/>
              </a:ext>
            </a:extLst>
          </p:cNvPr>
          <p:cNvSpPr>
            <a:spLocks noGrp="1"/>
          </p:cNvSpPr>
          <p:nvPr/>
        </p:nvSpPr>
        <p:spPr>
          <a:xfrm>
            <a:off x="10668000" y="651510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77879A"/>
                </a:solidFill>
              </a:defRPr>
            </a:pPr>
            <a:r>
              <a:rPr sz="825" b="1">
                <a:solidFill>
                  <a:srgbClr val="77879A"/>
                </a:solidFill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382697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461EADA0-D9A4-4018-A870-E96FF1D3611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0A6B2"/>
                </a:solidFill>
              </a:defRPr>
            </a:pPr>
            <a:r>
              <a:rPr sz="975" b="1">
                <a:solidFill>
                  <a:srgbClr val="00A6B2"/>
                </a:solidFill>
              </a:rPr>
              <a:t>LIVE DEMONSTRATION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FE86C1-30F7-4985-8A84-E99183664C3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Finish by proving the complete signal path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6F70F6-0FF6-4453-9A59-3F5D114FDC0B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972800" cy="19050"/>
          </a:xfrm>
          <a:prstGeom prst="rect">
            <a:avLst/>
          </a:prstGeom>
          <a:solidFill>
            <a:srgbClr val="36506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4B7BD9-CD7E-44FF-9BC0-3F150893122D}"/>
              </a:ext>
            </a:extLst>
          </p:cNvPr>
          <p:cNvSpPr>
            <a:spLocks noGrp="1"/>
          </p:cNvSpPr>
          <p:nvPr/>
        </p:nvSpPr>
        <p:spPr>
          <a:xfrm>
            <a:off x="11144250" y="2857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B9D3E8"/>
                </a:solidFill>
              </a:defRPr>
            </a:pPr>
            <a:r>
              <a:rPr sz="975" b="1">
                <a:solidFill>
                  <a:srgbClr val="B9D3E8"/>
                </a:solidFill>
              </a:rPr>
              <a:t>12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CA84D27-C3D3-463A-92A5-5088E801B47B}"/>
              </a:ext>
            </a:extLst>
          </p:cNvPr>
          <p:cNvSpPr>
            <a:spLocks noGrp="1"/>
          </p:cNvSpPr>
          <p:nvPr/>
        </p:nvSpPr>
        <p:spPr>
          <a:xfrm>
            <a:off x="1790700" y="2838450"/>
            <a:ext cx="1409700" cy="247650"/>
          </a:xfrm>
          <a:prstGeom prst="rightArrow">
            <a:avLst/>
          </a:prstGeom>
          <a:solidFill>
            <a:srgbClr val="1C496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ED5FFA9-AF44-442F-84C6-C70165F2B270}"/>
              </a:ext>
            </a:extLst>
          </p:cNvPr>
          <p:cNvSpPr>
            <a:spLocks noGrp="1"/>
          </p:cNvSpPr>
          <p:nvPr/>
        </p:nvSpPr>
        <p:spPr>
          <a:xfrm>
            <a:off x="4114800" y="2838450"/>
            <a:ext cx="1409700" cy="247650"/>
          </a:xfrm>
          <a:prstGeom prst="rightArrow">
            <a:avLst/>
          </a:prstGeom>
          <a:solidFill>
            <a:srgbClr val="1C496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7D58D41-4ED5-4189-88AD-4A906CA7D9F2}"/>
              </a:ext>
            </a:extLst>
          </p:cNvPr>
          <p:cNvSpPr>
            <a:spLocks noGrp="1"/>
          </p:cNvSpPr>
          <p:nvPr/>
        </p:nvSpPr>
        <p:spPr>
          <a:xfrm>
            <a:off x="6438900" y="2838450"/>
            <a:ext cx="1409700" cy="247650"/>
          </a:xfrm>
          <a:prstGeom prst="rightArrow">
            <a:avLst/>
          </a:prstGeom>
          <a:solidFill>
            <a:srgbClr val="1C496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954DFCE-F08E-4C3A-B829-887CAC2ED71E}"/>
              </a:ext>
            </a:extLst>
          </p:cNvPr>
          <p:cNvSpPr>
            <a:spLocks noGrp="1"/>
          </p:cNvSpPr>
          <p:nvPr/>
        </p:nvSpPr>
        <p:spPr>
          <a:xfrm>
            <a:off x="8763000" y="2838450"/>
            <a:ext cx="1409700" cy="247650"/>
          </a:xfrm>
          <a:prstGeom prst="rightArrow">
            <a:avLst/>
          </a:prstGeom>
          <a:solidFill>
            <a:srgbClr val="1C496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E05865C-33D4-422C-B4F8-F0563C44A9D1}"/>
              </a:ext>
            </a:extLst>
          </p:cNvPr>
          <p:cNvSpPr>
            <a:spLocks noGrp="1"/>
          </p:cNvSpPr>
          <p:nvPr/>
        </p:nvSpPr>
        <p:spPr>
          <a:xfrm>
            <a:off x="1066800" y="2247900"/>
            <a:ext cx="495300" cy="495300"/>
          </a:xfrm>
          <a:prstGeom prst="ellipse">
            <a:avLst/>
          </a:prstGeom>
          <a:solidFill>
            <a:srgbClr val="55D9E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0D7EF4-7826-4213-BBAC-EF2AA6ECB15F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9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835B77-18B4-4A9A-81E9-28F76BA1788B}"/>
              </a:ext>
            </a:extLst>
          </p:cNvPr>
          <p:cNvSpPr>
            <a:spLocks noGrp="1"/>
          </p:cNvSpPr>
          <p:nvPr/>
        </p:nvSpPr>
        <p:spPr>
          <a:xfrm>
            <a:off x="609600" y="32575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55D9E6"/>
                </a:solidFill>
              </a:defRPr>
            </a:pPr>
            <a:r>
              <a:rPr sz="1200" b="1">
                <a:solidFill>
                  <a:srgbClr val="55D9E6"/>
                </a:solidFill>
              </a:rPr>
              <a:t>DASHBOARD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CE03A7-C2C6-48A6-94EE-09AD884A8BDC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1409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Show live room values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828F8E6-BA9F-4065-9E52-7EF2330887F9}"/>
              </a:ext>
            </a:extLst>
          </p:cNvPr>
          <p:cNvSpPr>
            <a:spLocks noGrp="1"/>
          </p:cNvSpPr>
          <p:nvPr/>
        </p:nvSpPr>
        <p:spPr>
          <a:xfrm>
            <a:off x="3390900" y="2247900"/>
            <a:ext cx="495300" cy="495300"/>
          </a:xfrm>
          <a:prstGeom prst="ellipse">
            <a:avLst/>
          </a:prstGeom>
          <a:solidFill>
            <a:srgbClr val="D94F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F79D56-84BC-464F-8E1C-E54FD4BE80EE}"/>
              </a:ext>
            </a:extLst>
          </p:cNvPr>
          <p:cNvSpPr>
            <a:spLocks noGrp="1"/>
          </p:cNvSpPr>
          <p:nvPr/>
        </p:nvSpPr>
        <p:spPr>
          <a:xfrm>
            <a:off x="3390900" y="2305050"/>
            <a:ext cx="49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FD480B-89B9-4351-AC99-90CB7C6EA2D9}"/>
              </a:ext>
            </a:extLst>
          </p:cNvPr>
          <p:cNvSpPr>
            <a:spLocks noGrp="1"/>
          </p:cNvSpPr>
          <p:nvPr/>
        </p:nvSpPr>
        <p:spPr>
          <a:xfrm>
            <a:off x="2933700" y="32575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D94F5C"/>
                </a:solidFill>
              </a:defRPr>
            </a:pPr>
            <a:r>
              <a:rPr sz="1200" b="1">
                <a:solidFill>
                  <a:srgbClr val="D94F5C"/>
                </a:solidFill>
              </a:rPr>
              <a:t>SAFE ALARM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B4D944-426B-4588-AB2E-2FC8847C1A78}"/>
              </a:ext>
            </a:extLst>
          </p:cNvPr>
          <p:cNvSpPr>
            <a:spLocks noGrp="1"/>
          </p:cNvSpPr>
          <p:nvPr/>
        </p:nvSpPr>
        <p:spPr>
          <a:xfrm>
            <a:off x="2933700" y="3619500"/>
            <a:ext cx="1409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Use flame input or test injection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F138996-AAAF-4C64-BF2C-260C99DA1BF6}"/>
              </a:ext>
            </a:extLst>
          </p:cNvPr>
          <p:cNvSpPr>
            <a:spLocks noGrp="1"/>
          </p:cNvSpPr>
          <p:nvPr/>
        </p:nvSpPr>
        <p:spPr>
          <a:xfrm>
            <a:off x="5715000" y="2247900"/>
            <a:ext cx="495300" cy="495300"/>
          </a:xfrm>
          <a:prstGeom prst="ellipse">
            <a:avLst/>
          </a:prstGeom>
          <a:solidFill>
            <a:srgbClr val="246BF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B41F67-559F-459F-90DA-3421FF52D299}"/>
              </a:ext>
            </a:extLst>
          </p:cNvPr>
          <p:cNvSpPr>
            <a:spLocks noGrp="1"/>
          </p:cNvSpPr>
          <p:nvPr/>
        </p:nvSpPr>
        <p:spPr>
          <a:xfrm>
            <a:off x="5715000" y="2305050"/>
            <a:ext cx="49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67A0F5-9DB2-4403-85E8-B69DF1BF25C6}"/>
              </a:ext>
            </a:extLst>
          </p:cNvPr>
          <p:cNvSpPr>
            <a:spLocks noGrp="1"/>
          </p:cNvSpPr>
          <p:nvPr/>
        </p:nvSpPr>
        <p:spPr>
          <a:xfrm>
            <a:off x="5257800" y="32575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46BFD"/>
                </a:solidFill>
              </a:defRPr>
            </a:pPr>
            <a:r>
              <a:rPr sz="1200" b="1">
                <a:solidFill>
                  <a:srgbClr val="246BFD"/>
                </a:solidFill>
              </a:rPr>
              <a:t>CLOUD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629C04-A871-4FEF-920E-82CC9E4B0D90}"/>
              </a:ext>
            </a:extLst>
          </p:cNvPr>
          <p:cNvSpPr>
            <a:spLocks noGrp="1"/>
          </p:cNvSpPr>
          <p:nvPr/>
        </p:nvSpPr>
        <p:spPr>
          <a:xfrm>
            <a:off x="5257800" y="3619500"/>
            <a:ext cx="1409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Show one fresh Blynk value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0E3A036-9509-45B7-B337-7D9B6C070C5C}"/>
              </a:ext>
            </a:extLst>
          </p:cNvPr>
          <p:cNvSpPr>
            <a:spLocks noGrp="1"/>
          </p:cNvSpPr>
          <p:nvPr/>
        </p:nvSpPr>
        <p:spPr>
          <a:xfrm>
            <a:off x="8039100" y="2247900"/>
            <a:ext cx="495300" cy="4953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014743-4F46-40A7-8FBB-DAFA6288CF39}"/>
              </a:ext>
            </a:extLst>
          </p:cNvPr>
          <p:cNvSpPr>
            <a:spLocks noGrp="1"/>
          </p:cNvSpPr>
          <p:nvPr/>
        </p:nvSpPr>
        <p:spPr>
          <a:xfrm>
            <a:off x="8039100" y="2305050"/>
            <a:ext cx="49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C3B48E-A891-4E74-9892-C0090C7286D1}"/>
              </a:ext>
            </a:extLst>
          </p:cNvPr>
          <p:cNvSpPr>
            <a:spLocks noGrp="1"/>
          </p:cNvSpPr>
          <p:nvPr/>
        </p:nvSpPr>
        <p:spPr>
          <a:xfrm>
            <a:off x="7581900" y="32575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00A6B2"/>
                </a:solidFill>
              </a:defRPr>
            </a:pPr>
            <a:r>
              <a:rPr sz="1200" b="1">
                <a:solidFill>
                  <a:srgbClr val="00A6B2"/>
                </a:solidFill>
              </a:rPr>
              <a:t>USB UART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B2470D-8D5A-42F5-A625-8DB8E7A2CD75}"/>
              </a:ext>
            </a:extLst>
          </p:cNvPr>
          <p:cNvSpPr>
            <a:spLocks noGrp="1"/>
          </p:cNvSpPr>
          <p:nvPr/>
        </p:nvSpPr>
        <p:spPr>
          <a:xfrm>
            <a:off x="7581900" y="3619500"/>
            <a:ext cx="1409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Send a console command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DD8CE23-F7D1-47AE-B0AF-798445FE8ED9}"/>
              </a:ext>
            </a:extLst>
          </p:cNvPr>
          <p:cNvSpPr>
            <a:spLocks noGrp="1"/>
          </p:cNvSpPr>
          <p:nvPr/>
        </p:nvSpPr>
        <p:spPr>
          <a:xfrm>
            <a:off x="10363200" y="2247900"/>
            <a:ext cx="495300" cy="495300"/>
          </a:xfrm>
          <a:prstGeom prst="ellipse">
            <a:avLst/>
          </a:prstGeom>
          <a:solidFill>
            <a:srgbClr val="28A66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E05C62D-ECA9-42FC-8358-E3FE84882BE8}"/>
              </a:ext>
            </a:extLst>
          </p:cNvPr>
          <p:cNvSpPr>
            <a:spLocks noGrp="1"/>
          </p:cNvSpPr>
          <p:nvPr/>
        </p:nvSpPr>
        <p:spPr>
          <a:xfrm>
            <a:off x="10363200" y="2305050"/>
            <a:ext cx="49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BD9844-1223-4975-B3F1-8B2946BCCF4E}"/>
              </a:ext>
            </a:extLst>
          </p:cNvPr>
          <p:cNvSpPr>
            <a:spLocks noGrp="1"/>
          </p:cNvSpPr>
          <p:nvPr/>
        </p:nvSpPr>
        <p:spPr>
          <a:xfrm>
            <a:off x="9906000" y="3257550"/>
            <a:ext cx="140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8A66A"/>
                </a:solidFill>
              </a:defRPr>
            </a:pPr>
            <a:r>
              <a:rPr sz="1200" b="1">
                <a:solidFill>
                  <a:srgbClr val="28A66A"/>
                </a:solidFill>
              </a:rPr>
              <a:t>MEMORY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813B4D-A47A-4AB6-9FA4-C753FC0947FD}"/>
              </a:ext>
            </a:extLst>
          </p:cNvPr>
          <p:cNvSpPr>
            <a:spLocks noGrp="1"/>
          </p:cNvSpPr>
          <p:nvPr/>
        </p:nvSpPr>
        <p:spPr>
          <a:xfrm>
            <a:off x="9906000" y="3619500"/>
            <a:ext cx="1409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Show QSPI ID + SDRAM PASS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6D5A9-7CCF-4513-B3DD-DB56945F1658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19050"/>
          </a:xfrm>
          <a:prstGeom prst="rect">
            <a:avLst/>
          </a:prstGeom>
          <a:solidFill>
            <a:srgbClr val="38546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2B71CA-B24B-4382-AD31-131FC36228D7}"/>
              </a:ext>
            </a:extLst>
          </p:cNvPr>
          <p:cNvSpPr>
            <a:spLocks noGrp="1"/>
          </p:cNvSpPr>
          <p:nvPr/>
        </p:nvSpPr>
        <p:spPr>
          <a:xfrm>
            <a:off x="1066800" y="5010150"/>
            <a:ext cx="10058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One manufactured PCB now senses, displays, warns, stores and communicates.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E61D5E-A53B-49C7-9EE2-F38B2D9461E8}"/>
              </a:ext>
            </a:extLst>
          </p:cNvPr>
          <p:cNvSpPr>
            <a:spLocks noGrp="1"/>
          </p:cNvSpPr>
          <p:nvPr/>
        </p:nvSpPr>
        <p:spPr>
          <a:xfrm>
            <a:off x="1066800" y="5772150"/>
            <a:ext cx="10058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B9D3E8"/>
                </a:solidFill>
              </a:defRPr>
            </a:pPr>
            <a:r>
              <a:rPr sz="1275" b="1">
                <a:solidFill>
                  <a:srgbClr val="B9D3E8"/>
                </a:solidFill>
              </a:rPr>
              <a:t>REV B  ·  replaceable touch assembly  ·  better sensor thermal isolation  ·  authenticated TLS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D562E81-AE15-452C-B4A0-A807752E8CFF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9DB2C8"/>
                </a:solidFill>
              </a:defRPr>
            </a:pPr>
            <a:r>
              <a:rPr sz="825" b="1">
                <a:solidFill>
                  <a:srgbClr val="9DB2C8"/>
                </a:solidFill>
              </a:rPr>
              <a:t>SMART HOME HUB · ADVANCED PCB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80515E-8EC5-438E-881E-7E9BC6BC86EB}"/>
              </a:ext>
            </a:extLst>
          </p:cNvPr>
          <p:cNvSpPr>
            <a:spLocks noGrp="1"/>
          </p:cNvSpPr>
          <p:nvPr/>
        </p:nvSpPr>
        <p:spPr>
          <a:xfrm>
            <a:off x="10668000" y="651510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9DB2C8"/>
                </a:solidFill>
              </a:defRPr>
            </a:pPr>
            <a:r>
              <a:rPr sz="825" b="1">
                <a:solidFill>
                  <a:srgbClr val="9DB2C8"/>
                </a:solidFill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23775247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1768</Words>
  <Application>Microsoft Office PowerPoint</Application>
  <DocSecurity>0</DocSecurity>
  <PresentationFormat>Widescreen</PresentationFormat>
  <Paragraphs>275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Mahmoud Mohamed A Mostafa</cp:lastModifiedBy>
  <cp:revision>3</cp:revision>
  <dcterms:created xsi:type="dcterms:W3CDTF">2026-08-16T13:42:53Z</dcterms:created>
  <dcterms:modified xsi:type="dcterms:W3CDTF">2026-08-16T13:50:12Z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2026-08-16T13:48:28Z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a975a643-93e5-4336-8299-6a72bffa97b6</vt:lpwstr>
  </property>
  <property fmtid="{D5CDD505-2E9C-101B-9397-08002B2CF9AE}" pid="8" name="MSIP_Label_c337be75-dfbb-4261-9834-ac247c7dde13_ContentBits">
    <vt:lpwstr>0</vt:lpwstr>
  </property>
  <property fmtid="{D5CDD505-2E9C-101B-9397-08002B2CF9AE}" pid="9" name="MSIP_Label_c337be75-dfbb-4261-9834-ac247c7dde13_Tag">
    <vt:lpwstr>10, 3, 0, 1</vt:lpwstr>
  </property>
</Properties>
</file>